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237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Selamat sore Dewan Juri. Kami dari Kelompok 7 mempresentasikan riset mini project kami: Prediksi Risiko Depresi Remaja Berdasarkan Media Sosial dan Gaya Hidup. Fokus utama kami adalah menyelesaikan Accuracy Paradox pada data 2.6% imbalanced dan menemukan model dengan 100% sensitivitas.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Riset kami dirancang untuk menjawab kebutuhan 3 persona: konselor sekolah yang membutuhkan alat penapisan dini, orang tua yang mengawasi kebiasaan digital anak, dan tim analis yang berfokus meniadakan False Negative.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ini memiliki 1.200 baris bersih tanpa data kosong. Fiturnya merangkum 3 pilar: aktivitas digital, indikator psikologis, dan gaya hidup harian remaja.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Ketimpangan 2,6% depresi berbanding 97,4% sehat adalah tantangan inti. Di sinilah kami membuktikan pemahaman: akurasi 97% bisa menipu jika Recall-nya 0. Solusinya adalah stratified split dan evaluasi berbasis sensitivitas.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Matriks korelasi membuktikan secara konsisten: durasi tidur adalah faktor pelindung utama (-0.19), sedangkan penggunaan medsos berlebih (+0.18) dan stres (+0.17) merupakan pemicu risiko terbesar.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Pada data cleaning, keputusan paling krusial adalah tidak menghapus outlier. Stres sangat tinggi atau tidur sangat singkat justru merupakan karakteristik alami dari remaja depresi.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Kami menjaga integritas eksperimen secara ketat: scaling fit hanya di data latih untuk mencegah data leakage, dan data uji benar-benar hanya dibuka satu kali di akhir.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KNN standar membuktikan fenomena Accuracy Paradox: akurasi 97,5% namun Recall 0%. Model ini gagal mendeteksi seluruh 6 kasus depresi di data uji. Ini membuktikan urgensi algoritma ensemble lanjutan.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Kami membandingkan 4 rumpun algoritma dengan aturan cross-validation 5-lipatan yang sama. XGBoost memenangkan benchmark dengan CV 99,58% dan variansi terendah 0,0039, serta mempertahankan Recall 100% di data uji.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Perhatikan perbandingan visual confusion matrix: KNN di sebelah kiri melewatkan 6 anak depresi, sedangkan XGBoost di sebelah kanan menangkap 100% kasus tanpa ada False Negative.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importance membuktikan bahwa jam tidur (18,7%) dan durasi medsos (17,7%) menyumbang lebih dari sepertiga kekuatan prediksi model. Ini menjadi dasar rekomendasi kebijakan praktis bagi sekolah dan orang tua.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Sebagai penutup, kami menyimpulkan bahwa model ini berhasil menjawab tujuan riset. Kami juga bersikap jujur secara ilmiah mengenai keterbatasan data dan potensi target leakage pada skor stres, serta batasan etis bahwa AI ini hanyalah screening tool.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Seluruh anggota tim berkontribusi aktif dan seimbang di setiap tahap proyek: perumusan masalah, pembersihan data, modeling, dan evaluasi. Kami siap membuka sesi tanya jawab dengan Dewan Juri. Terima kasih.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914400"/>
            <a:ext cx="9997135" cy="502920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0" y="1234440"/>
            <a:ext cx="8869680" cy="2743200"/>
          </a:xfrm>
          <a:prstGeom prst="rect">
            <a:avLst/>
          </a:prstGeom>
          <a:noFill/>
        </p:spPr>
        <p:txBody>
          <a:bodyPr wrap="square">
            <a:spAutoFit/>
          </a:bodyPr>
          <a:lstStyle/>
          <a:p>
            <a:pPr>
              <a:defRPr sz="1200" b="1">
                <a:solidFill>
                  <a:srgbClr val="38BDF8"/>
                </a:solidFill>
              </a:defRPr>
            </a:pPr>
            <a:r>
              <a:t>STUDY GROUP I-SMILE • TELKOM UNIVERSITY 2026</a:t>
            </a:r>
          </a:p>
          <a:p>
            <a:pPr>
              <a:spcBef>
                <a:spcPts val="1400"/>
              </a:spcBef>
              <a:spcAft>
                <a:spcPts val="1000"/>
              </a:spcAft>
              <a:defRPr sz="2800" b="1">
                <a:solidFill>
                  <a:srgbClr val="F1F5F9"/>
                </a:solidFill>
              </a:defRPr>
            </a:pPr>
            <a:r>
              <a:t>Prediksi Risiko Depresi Remaja Berdasarkan Media Sosial &amp; Gaya Hidup</a:t>
            </a:r>
          </a:p>
          <a:p>
            <a:pPr>
              <a:defRPr sz="1300">
                <a:solidFill>
                  <a:srgbClr val="94A3B8"/>
                </a:solidFill>
              </a:defRPr>
            </a:pPr>
            <a:r>
              <a:t>Implementasi Klasifikasi Biner, Mitigasi Accuracy Paradox, dan Benchmark 4 Algoritma Machine Learning</a:t>
            </a:r>
          </a:p>
        </p:txBody>
      </p:sp>
      <p:sp>
        <p:nvSpPr>
          <p:cNvPr id="5" name="Rounded Rectangle 4"/>
          <p:cNvSpPr/>
          <p:nvPr/>
        </p:nvSpPr>
        <p:spPr>
          <a:xfrm>
            <a:off x="1828800" y="3931920"/>
            <a:ext cx="2377440" cy="1280160"/>
          </a:xfrm>
          <a:prstGeom prst="roundRect">
            <a:avLst/>
          </a:prstGeom>
          <a:solidFill>
            <a:srgbClr val="141A29"/>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20240" y="4069080"/>
            <a:ext cx="2194560" cy="1005840"/>
          </a:xfrm>
          <a:prstGeom prst="rect">
            <a:avLst/>
          </a:prstGeom>
          <a:noFill/>
        </p:spPr>
        <p:txBody>
          <a:bodyPr wrap="none">
            <a:spAutoFit/>
          </a:bodyPr>
          <a:lstStyle/>
          <a:p>
            <a:pPr>
              <a:defRPr sz="1000">
                <a:solidFill>
                  <a:srgbClr val="94A3B8"/>
                </a:solidFill>
              </a:defRPr>
            </a:pPr>
            <a:r>
              <a:t>KELOMPOK</a:t>
            </a:r>
          </a:p>
          <a:p>
            <a:pPr>
              <a:defRPr sz="1600" b="1">
                <a:solidFill>
                  <a:srgbClr val="38BDF8"/>
                </a:solidFill>
              </a:defRPr>
            </a:pPr>
            <a:r>
              <a:t>Kelompok 7</a:t>
            </a:r>
          </a:p>
        </p:txBody>
      </p:sp>
      <p:sp>
        <p:nvSpPr>
          <p:cNvPr id="7" name="Rounded Rectangle 6"/>
          <p:cNvSpPr/>
          <p:nvPr/>
        </p:nvSpPr>
        <p:spPr>
          <a:xfrm>
            <a:off x="4846320" y="3931920"/>
            <a:ext cx="2377440" cy="1280160"/>
          </a:xfrm>
          <a:prstGeom prst="roundRect">
            <a:avLst/>
          </a:prstGeom>
          <a:solidFill>
            <a:srgbClr val="141A29"/>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4069080"/>
            <a:ext cx="2194560" cy="1005840"/>
          </a:xfrm>
          <a:prstGeom prst="rect">
            <a:avLst/>
          </a:prstGeom>
          <a:noFill/>
        </p:spPr>
        <p:txBody>
          <a:bodyPr wrap="none">
            <a:spAutoFit/>
          </a:bodyPr>
          <a:lstStyle/>
          <a:p>
            <a:pPr>
              <a:defRPr sz="1000">
                <a:solidFill>
                  <a:srgbClr val="94A3B8"/>
                </a:solidFill>
              </a:defRPr>
            </a:pPr>
            <a:r>
              <a:t>DATA OBSERVASI</a:t>
            </a:r>
          </a:p>
          <a:p>
            <a:pPr>
              <a:defRPr sz="1600" b="1">
                <a:solidFill>
                  <a:srgbClr val="F1F5F9"/>
                </a:solidFill>
              </a:defRPr>
            </a:pPr>
            <a:r>
              <a:t>1.200 Baris</a:t>
            </a:r>
          </a:p>
        </p:txBody>
      </p:sp>
      <p:sp>
        <p:nvSpPr>
          <p:cNvPr id="9" name="Rounded Rectangle 8"/>
          <p:cNvSpPr/>
          <p:nvPr/>
        </p:nvSpPr>
        <p:spPr>
          <a:xfrm>
            <a:off x="7863840" y="3931920"/>
            <a:ext cx="2377440" cy="128016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4069080"/>
            <a:ext cx="2194560" cy="1005840"/>
          </a:xfrm>
          <a:prstGeom prst="rect">
            <a:avLst/>
          </a:prstGeom>
          <a:noFill/>
        </p:spPr>
        <p:txBody>
          <a:bodyPr wrap="none">
            <a:spAutoFit/>
          </a:bodyPr>
          <a:lstStyle/>
          <a:p>
            <a:pPr>
              <a:defRPr sz="1000">
                <a:solidFill>
                  <a:srgbClr val="94A3B8"/>
                </a:solidFill>
              </a:defRPr>
            </a:pPr>
            <a:r>
              <a:t>MODEL TERPILIH</a:t>
            </a:r>
          </a:p>
          <a:p>
            <a:pPr>
              <a:defRPr sz="1500" b="1">
                <a:solidFill>
                  <a:srgbClr val="10B981"/>
                </a:solidFill>
              </a:defRPr>
            </a:pPr>
            <a:r>
              <a:t>XGBoost (100% Rec)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01 • LATAR BELAKANG &amp; MASALAH</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Urgensi Deteksi Dini Depresi &amp; Siapa Pengguna Hasilnya</a:t>
            </a:r>
          </a:p>
        </p:txBody>
      </p:sp>
      <p:sp>
        <p:nvSpPr>
          <p:cNvPr id="5" name="Rounded Rectangle 4"/>
          <p:cNvSpPr/>
          <p:nvPr/>
        </p:nvSpPr>
        <p:spPr>
          <a:xfrm>
            <a:off x="731520" y="1554480"/>
            <a:ext cx="3413455"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37360"/>
            <a:ext cx="2956255" cy="3474720"/>
          </a:xfrm>
          <a:prstGeom prst="rect">
            <a:avLst/>
          </a:prstGeom>
          <a:noFill/>
        </p:spPr>
        <p:txBody>
          <a:bodyPr wrap="square">
            <a:spAutoFit/>
          </a:bodyPr>
          <a:lstStyle/>
          <a:p>
            <a:pPr>
              <a:defRPr sz="1600" b="1">
                <a:solidFill>
                  <a:srgbClr val="38BDF8"/>
                </a:solidFill>
              </a:defRPr>
            </a:pPr>
            <a:r>
              <a:t>🏫 Konselor Sekolah</a:t>
            </a:r>
          </a:p>
          <a:p>
            <a:pPr>
              <a:spcBef>
                <a:spcPts val="600"/>
              </a:spcBef>
              <a:spcAft>
                <a:spcPts val="1200"/>
              </a:spcAft>
              <a:defRPr sz="1100" b="1">
                <a:solidFill>
                  <a:srgbClr val="F1F5F9"/>
                </a:solidFill>
              </a:defRPr>
            </a:pPr>
            <a:r>
              <a:t>Deteksi Dini Siswa Berisiko</a:t>
            </a:r>
          </a:p>
          <a:p>
            <a:pPr>
              <a:spcAft>
                <a:spcPts val="600"/>
              </a:spcAft>
              <a:defRPr sz="1100">
                <a:solidFill>
                  <a:srgbClr val="94A3B8"/>
                </a:solidFill>
              </a:defRPr>
            </a:pPr>
            <a:r>
              <a:t>• Mengidentifikasi siswa yang mulai menunjukkan gejala depresi dari penurunan akademik &amp; jam tidur.</a:t>
            </a:r>
          </a:p>
          <a:p>
            <a:pPr>
              <a:spcAft>
                <a:spcPts val="600"/>
              </a:spcAft>
              <a:defRPr sz="1100">
                <a:solidFill>
                  <a:srgbClr val="94A3B8"/>
                </a:solidFill>
              </a:defRPr>
            </a:pPr>
            <a:r>
              <a:t>• Memberikan intervensi konseling psikologis sebelum kondisi memburuk ke tahap klinis berat.</a:t>
            </a:r>
          </a:p>
        </p:txBody>
      </p:sp>
      <p:sp>
        <p:nvSpPr>
          <p:cNvPr id="7" name="Rounded Rectangle 6"/>
          <p:cNvSpPr/>
          <p:nvPr/>
        </p:nvSpPr>
        <p:spPr>
          <a:xfrm>
            <a:off x="960120" y="5394960"/>
            <a:ext cx="2956255" cy="5486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Target: Siswa dengan jam tidur &lt;5 jam &amp; stres tinggi</a:t>
            </a:r>
          </a:p>
        </p:txBody>
      </p:sp>
      <p:sp>
        <p:nvSpPr>
          <p:cNvPr id="8" name="Rounded Rectangle 7"/>
          <p:cNvSpPr/>
          <p:nvPr/>
        </p:nvSpPr>
        <p:spPr>
          <a:xfrm>
            <a:off x="4389120" y="1554480"/>
            <a:ext cx="3413455" cy="4663440"/>
          </a:xfrm>
          <a:prstGeom prst="roundRect">
            <a:avLst/>
          </a:prstGeom>
          <a:solidFill>
            <a:srgbClr val="141A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1737360"/>
            <a:ext cx="2956255" cy="3474720"/>
          </a:xfrm>
          <a:prstGeom prst="rect">
            <a:avLst/>
          </a:prstGeom>
          <a:noFill/>
        </p:spPr>
        <p:txBody>
          <a:bodyPr wrap="square">
            <a:spAutoFit/>
          </a:bodyPr>
          <a:lstStyle/>
          <a:p>
            <a:pPr>
              <a:defRPr sz="1600" b="1">
                <a:solidFill>
                  <a:srgbClr val="F59E0B"/>
                </a:solidFill>
              </a:defRPr>
            </a:pPr>
            <a:r>
              <a:t>👨‍👩‍👧 Orang Tua Remaja</a:t>
            </a:r>
          </a:p>
          <a:p>
            <a:pPr>
              <a:spcBef>
                <a:spcPts val="600"/>
              </a:spcBef>
              <a:spcAft>
                <a:spcPts val="1200"/>
              </a:spcAft>
              <a:defRPr sz="1100" b="1">
                <a:solidFill>
                  <a:srgbClr val="F1F5F9"/>
                </a:solidFill>
              </a:defRPr>
            </a:pPr>
            <a:r>
              <a:t>Pengawasan Gaya Hidup Digital</a:t>
            </a:r>
          </a:p>
          <a:p>
            <a:pPr>
              <a:spcAft>
                <a:spcPts val="600"/>
              </a:spcAft>
              <a:defRPr sz="1100">
                <a:solidFill>
                  <a:srgbClr val="94A3B8"/>
                </a:solidFill>
              </a:defRPr>
            </a:pPr>
            <a:r>
              <a:t>• Mengetahui batas wajar penggunaan media sosial harian (&gt;4-5 jam terbukti memicu risiko).</a:t>
            </a:r>
          </a:p>
          <a:p>
            <a:pPr>
              <a:spcAft>
                <a:spcPts val="600"/>
              </a:spcAft>
              <a:defRPr sz="1100">
                <a:solidFill>
                  <a:srgbClr val="94A3B8"/>
                </a:solidFill>
              </a:defRPr>
            </a:pPr>
            <a:r>
              <a:t>• Menjadikan durasi tidur malam sebagai alarm utama pencegahan gangguan mental remaja.</a:t>
            </a:r>
          </a:p>
        </p:txBody>
      </p:sp>
      <p:sp>
        <p:nvSpPr>
          <p:cNvPr id="10" name="Rounded Rectangle 9"/>
          <p:cNvSpPr/>
          <p:nvPr/>
        </p:nvSpPr>
        <p:spPr>
          <a:xfrm>
            <a:off x="4617720" y="5394960"/>
            <a:ext cx="2956255" cy="5486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59E0B"/>
                </a:solidFill>
              </a:defRPr>
            </a:pPr>
            <a:r>
              <a:t>Aturan: Maksimal 2-3 jam medsos/hari sebelum tidur</a:t>
            </a:r>
          </a:p>
        </p:txBody>
      </p:sp>
      <p:sp>
        <p:nvSpPr>
          <p:cNvPr id="11" name="Rounded Rectangle 10"/>
          <p:cNvSpPr/>
          <p:nvPr/>
        </p:nvSpPr>
        <p:spPr>
          <a:xfrm>
            <a:off x="8046720" y="1554480"/>
            <a:ext cx="3413455" cy="4663440"/>
          </a:xfrm>
          <a:prstGeom prst="roundRect">
            <a:avLst/>
          </a:prstGeom>
          <a:solidFill>
            <a:srgbClr val="141A29"/>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75320" y="1737360"/>
            <a:ext cx="2956255" cy="3474720"/>
          </a:xfrm>
          <a:prstGeom prst="rect">
            <a:avLst/>
          </a:prstGeom>
          <a:noFill/>
        </p:spPr>
        <p:txBody>
          <a:bodyPr wrap="square">
            <a:spAutoFit/>
          </a:bodyPr>
          <a:lstStyle/>
          <a:p>
            <a:pPr>
              <a:defRPr sz="1600" b="1">
                <a:solidFill>
                  <a:srgbClr val="F43F5E"/>
                </a:solidFill>
              </a:defRPr>
            </a:pPr>
            <a:r>
              <a:t>🎯 Analis Machine Learning</a:t>
            </a:r>
          </a:p>
          <a:p>
            <a:pPr>
              <a:spcBef>
                <a:spcPts val="600"/>
              </a:spcBef>
              <a:spcAft>
                <a:spcPts val="1200"/>
              </a:spcAft>
              <a:defRPr sz="1100" b="1">
                <a:solidFill>
                  <a:srgbClr val="F1F5F9"/>
                </a:solidFill>
              </a:defRPr>
            </a:pPr>
            <a:r>
              <a:t>Tantangan Klasifikasi Klinis</a:t>
            </a:r>
          </a:p>
          <a:p>
            <a:pPr>
              <a:spcAft>
                <a:spcPts val="600"/>
              </a:spcAft>
              <a:defRPr sz="1100">
                <a:solidFill>
                  <a:srgbClr val="94A3B8"/>
                </a:solidFill>
              </a:defRPr>
            </a:pPr>
            <a:r>
              <a:t>• Menangani ketimpangan kelas ekstrem (kasus positif hanya 2,6% dari populasi).</a:t>
            </a:r>
          </a:p>
          <a:p>
            <a:pPr>
              <a:spcAft>
                <a:spcPts val="600"/>
              </a:spcAft>
              <a:defRPr sz="1100">
                <a:solidFill>
                  <a:srgbClr val="94A3B8"/>
                </a:solidFill>
              </a:defRPr>
            </a:pPr>
            <a:r>
              <a:t>• Menghindari False Negative fatal: tidak boleh ada remaja depresi yang lolos tanpa terdeteksi.</a:t>
            </a:r>
          </a:p>
        </p:txBody>
      </p:sp>
      <p:sp>
        <p:nvSpPr>
          <p:cNvPr id="13" name="Rounded Rectangle 12"/>
          <p:cNvSpPr/>
          <p:nvPr/>
        </p:nvSpPr>
        <p:spPr>
          <a:xfrm>
            <a:off x="8275320" y="5394960"/>
            <a:ext cx="2956255" cy="548640"/>
          </a:xfrm>
          <a:prstGeom prst="roundRect">
            <a:avLst/>
          </a:prstGeom>
          <a:solidFill>
            <a:srgbClr val="0F17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43F5E"/>
                </a:solidFill>
              </a:defRPr>
            </a:pPr>
            <a:r>
              <a:t>Fokus Metrik: Wajib Recall 100% daripada Akurasi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02 • KARAKTERISTIK DATASET</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Dataset Kesehatan Remaja: 1.200 Observasi &amp; 13 Fitur Perilaku</a:t>
            </a:r>
          </a:p>
        </p:txBody>
      </p:sp>
      <p:sp>
        <p:nvSpPr>
          <p:cNvPr id="5" name="Rounded Rectangle 4"/>
          <p:cNvSpPr/>
          <p:nvPr/>
        </p:nvSpPr>
        <p:spPr>
          <a:xfrm>
            <a:off x="731520" y="1554480"/>
            <a:ext cx="2377440" cy="201168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74519"/>
            <a:ext cx="2103120" cy="1371600"/>
          </a:xfrm>
          <a:prstGeom prst="rect">
            <a:avLst/>
          </a:prstGeom>
          <a:noFill/>
        </p:spPr>
        <p:txBody>
          <a:bodyPr wrap="square">
            <a:spAutoFit/>
          </a:bodyPr>
          <a:lstStyle/>
          <a:p>
            <a:pPr algn="ctr">
              <a:defRPr sz="3000" b="1">
                <a:solidFill>
                  <a:srgbClr val="38BDF8"/>
                </a:solidFill>
              </a:defRPr>
            </a:pPr>
            <a:r>
              <a:t>1.200</a:t>
            </a:r>
          </a:p>
          <a:p>
            <a:pPr algn="ctr">
              <a:spcBef>
                <a:spcPts val="600"/>
              </a:spcBef>
              <a:defRPr sz="1000">
                <a:solidFill>
                  <a:srgbClr val="94A3B8"/>
                </a:solidFill>
              </a:defRPr>
            </a:pPr>
            <a:r>
              <a:t>Total Baris Observasi</a:t>
            </a:r>
          </a:p>
        </p:txBody>
      </p:sp>
      <p:sp>
        <p:nvSpPr>
          <p:cNvPr id="7" name="Rounded Rectangle 6"/>
          <p:cNvSpPr/>
          <p:nvPr/>
        </p:nvSpPr>
        <p:spPr>
          <a:xfrm>
            <a:off x="3291839" y="1554480"/>
            <a:ext cx="2377440" cy="2011680"/>
          </a:xfrm>
          <a:prstGeom prst="roundRect">
            <a:avLst/>
          </a:prstGeom>
          <a:solidFill>
            <a:srgbClr val="141A29"/>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28999" y="1874519"/>
            <a:ext cx="2103120" cy="1371600"/>
          </a:xfrm>
          <a:prstGeom prst="rect">
            <a:avLst/>
          </a:prstGeom>
          <a:noFill/>
        </p:spPr>
        <p:txBody>
          <a:bodyPr wrap="square">
            <a:spAutoFit/>
          </a:bodyPr>
          <a:lstStyle/>
          <a:p>
            <a:pPr algn="ctr">
              <a:defRPr sz="3000" b="1">
                <a:solidFill>
                  <a:srgbClr val="F1F5F9"/>
                </a:solidFill>
              </a:defRPr>
            </a:pPr>
            <a:r>
              <a:t>13</a:t>
            </a:r>
          </a:p>
          <a:p>
            <a:pPr algn="ctr">
              <a:spcBef>
                <a:spcPts val="600"/>
              </a:spcBef>
              <a:defRPr sz="1000">
                <a:solidFill>
                  <a:srgbClr val="94A3B8"/>
                </a:solidFill>
              </a:defRPr>
            </a:pPr>
            <a:r>
              <a:t>Total Kolom (10 Num, 3 Kat)</a:t>
            </a:r>
          </a:p>
        </p:txBody>
      </p:sp>
      <p:sp>
        <p:nvSpPr>
          <p:cNvPr id="9" name="Rounded Rectangle 8"/>
          <p:cNvSpPr/>
          <p:nvPr/>
        </p:nvSpPr>
        <p:spPr>
          <a:xfrm>
            <a:off x="731520" y="3840480"/>
            <a:ext cx="2377440" cy="201168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60520"/>
            <a:ext cx="2103120" cy="1371600"/>
          </a:xfrm>
          <a:prstGeom prst="rect">
            <a:avLst/>
          </a:prstGeom>
          <a:noFill/>
        </p:spPr>
        <p:txBody>
          <a:bodyPr wrap="square">
            <a:spAutoFit/>
          </a:bodyPr>
          <a:lstStyle/>
          <a:p>
            <a:pPr algn="ctr">
              <a:defRPr sz="3000" b="1">
                <a:solidFill>
                  <a:srgbClr val="10B981"/>
                </a:solidFill>
              </a:defRPr>
            </a:pPr>
            <a:r>
              <a:t>0</a:t>
            </a:r>
          </a:p>
          <a:p>
            <a:pPr algn="ctr">
              <a:spcBef>
                <a:spcPts val="600"/>
              </a:spcBef>
              <a:defRPr sz="1000">
                <a:solidFill>
                  <a:srgbClr val="94A3B8"/>
                </a:solidFill>
              </a:defRPr>
            </a:pPr>
            <a:r>
              <a:t>Missing Value (100% Lengkap)</a:t>
            </a:r>
          </a:p>
        </p:txBody>
      </p:sp>
      <p:sp>
        <p:nvSpPr>
          <p:cNvPr id="11" name="Rounded Rectangle 10"/>
          <p:cNvSpPr/>
          <p:nvPr/>
        </p:nvSpPr>
        <p:spPr>
          <a:xfrm>
            <a:off x="3291839" y="3840480"/>
            <a:ext cx="2377440" cy="201168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8999" y="4160520"/>
            <a:ext cx="2103120" cy="1371600"/>
          </a:xfrm>
          <a:prstGeom prst="rect">
            <a:avLst/>
          </a:prstGeom>
          <a:noFill/>
        </p:spPr>
        <p:txBody>
          <a:bodyPr wrap="square">
            <a:spAutoFit/>
          </a:bodyPr>
          <a:lstStyle/>
          <a:p>
            <a:pPr algn="ctr">
              <a:defRPr sz="3000" b="1">
                <a:solidFill>
                  <a:srgbClr val="10B981"/>
                </a:solidFill>
              </a:defRPr>
            </a:pPr>
            <a:r>
              <a:t>0</a:t>
            </a:r>
          </a:p>
          <a:p>
            <a:pPr algn="ctr">
              <a:spcBef>
                <a:spcPts val="600"/>
              </a:spcBef>
              <a:defRPr sz="1000">
                <a:solidFill>
                  <a:srgbClr val="94A3B8"/>
                </a:solidFill>
              </a:defRPr>
            </a:pPr>
            <a:r>
              <a:t>Baris Duplikat (Data Unik)</a:t>
            </a:r>
          </a:p>
        </p:txBody>
      </p:sp>
      <p:sp>
        <p:nvSpPr>
          <p:cNvPr id="13" name="Rounded Rectangle 12"/>
          <p:cNvSpPr/>
          <p:nvPr/>
        </p:nvSpPr>
        <p:spPr>
          <a:xfrm>
            <a:off x="6126480" y="1554480"/>
            <a:ext cx="5303520" cy="4572000"/>
          </a:xfrm>
          <a:prstGeom prst="roundRect">
            <a:avLst/>
          </a:prstGeom>
          <a:solidFill>
            <a:srgbClr val="141A29"/>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737360"/>
            <a:ext cx="4754880" cy="4114800"/>
          </a:xfrm>
          <a:prstGeom prst="rect">
            <a:avLst/>
          </a:prstGeom>
          <a:noFill/>
        </p:spPr>
        <p:txBody>
          <a:bodyPr wrap="square">
            <a:spAutoFit/>
          </a:bodyPr>
          <a:lstStyle/>
          <a:p>
            <a:pPr>
              <a:defRPr sz="1600" b="1">
                <a:solidFill>
                  <a:srgbClr val="A855F7"/>
                </a:solidFill>
              </a:defRPr>
            </a:pPr>
            <a:r>
              <a:t>Struktur &amp; Pilar Fitur Perilaku</a:t>
            </a:r>
          </a:p>
          <a:p>
            <a:pPr>
              <a:spcBef>
                <a:spcPts val="1000"/>
              </a:spcBef>
              <a:defRPr sz="1150" b="1">
                <a:solidFill>
                  <a:srgbClr val="F1F5F9"/>
                </a:solidFill>
              </a:defRPr>
            </a:pPr>
            <a:r>
              <a:t>📱 Aktivitas Digital (Screen Time &amp; Platform)</a:t>
            </a:r>
          </a:p>
          <a:p>
            <a:pPr>
              <a:defRPr sz="1000">
                <a:solidFill>
                  <a:srgbClr val="94A3B8"/>
                </a:solidFill>
              </a:defRPr>
            </a:pPr>
            <a:r>
              <a:t>• daily_social_media_hours (1–8 jam/hari)</a:t>
            </a:r>
          </a:p>
          <a:p>
            <a:pPr>
              <a:defRPr sz="1000">
                <a:solidFill>
                  <a:srgbClr val="94A3B8"/>
                </a:solidFill>
              </a:defRPr>
            </a:pPr>
            <a:r>
              <a:t>• screen_time_before_sleep (0.5–3 jam)</a:t>
            </a:r>
          </a:p>
          <a:p>
            <a:pPr>
              <a:defRPr sz="1000">
                <a:solidFill>
                  <a:srgbClr val="94A3B8"/>
                </a:solidFill>
              </a:defRPr>
            </a:pPr>
            <a:r>
              <a:t>• platform_usage (Instagram, TikTok, Both)</a:t>
            </a:r>
          </a:p>
          <a:p>
            <a:pPr>
              <a:spcBef>
                <a:spcPts val="1000"/>
              </a:spcBef>
              <a:defRPr sz="1150" b="1">
                <a:solidFill>
                  <a:srgbClr val="F1F5F9"/>
                </a:solidFill>
              </a:defRPr>
            </a:pPr>
            <a:r>
              <a:t>🩺 Indikator Psikologis (Self-Assessment)</a:t>
            </a:r>
          </a:p>
          <a:p>
            <a:pPr>
              <a:defRPr sz="1000">
                <a:solidFill>
                  <a:srgbClr val="94A3B8"/>
                </a:solidFill>
              </a:defRPr>
            </a:pPr>
            <a:r>
              <a:t>• stress_level (Skala 1–10)</a:t>
            </a:r>
          </a:p>
          <a:p>
            <a:pPr>
              <a:defRPr sz="1000">
                <a:solidFill>
                  <a:srgbClr val="94A3B8"/>
                </a:solidFill>
              </a:defRPr>
            </a:pPr>
            <a:r>
              <a:t>• anxiety_level (Skala 1–10)</a:t>
            </a:r>
          </a:p>
          <a:p>
            <a:pPr>
              <a:defRPr sz="1000">
                <a:solidFill>
                  <a:srgbClr val="94A3B8"/>
                </a:solidFill>
              </a:defRPr>
            </a:pPr>
            <a:r>
              <a:t>• addiction_level (Skala 1–10)</a:t>
            </a:r>
          </a:p>
          <a:p>
            <a:pPr>
              <a:spcBef>
                <a:spcPts val="1000"/>
              </a:spcBef>
              <a:defRPr sz="1150" b="1">
                <a:solidFill>
                  <a:srgbClr val="F1F5F9"/>
                </a:solidFill>
              </a:defRPr>
            </a:pPr>
            <a:r>
              <a:t>🏃 Gaya Hidup &amp; Faktor Pendukung</a:t>
            </a:r>
          </a:p>
          <a:p>
            <a:pPr>
              <a:defRPr sz="1000">
                <a:solidFill>
                  <a:srgbClr val="94A3B8"/>
                </a:solidFill>
              </a:defRPr>
            </a:pPr>
            <a:r>
              <a:t>• sleep_hours (4–9 jam/hari)</a:t>
            </a:r>
          </a:p>
          <a:p>
            <a:pPr>
              <a:defRPr sz="1000">
                <a:solidFill>
                  <a:srgbClr val="94A3B8"/>
                </a:solidFill>
              </a:defRPr>
            </a:pPr>
            <a:r>
              <a:t>• physical_activity (0–2 jam/minggu)</a:t>
            </a:r>
          </a:p>
          <a:p>
            <a:pPr>
              <a:defRPr sz="1000">
                <a:solidFill>
                  <a:srgbClr val="94A3B8"/>
                </a:solidFill>
              </a:defRPr>
            </a:pPr>
            <a:r>
              <a:t>• academic_performance (Skala IPK / Nilai 1–10)</a:t>
            </a:r>
          </a:p>
          <a:p>
            <a:pPr>
              <a:defRPr sz="1000">
                <a:solidFill>
                  <a:srgbClr val="94A3B8"/>
                </a:solidFill>
              </a:defRPr>
            </a:pPr>
            <a:r>
              <a:t>• gender (male, female) &amp; age (13–19 tahun)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03 • EKSPLORASI DATA (TARGET)</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Dilema Ketimpangan Kelas Ekstrem &amp; Jebakan Akurasi Semu</a:t>
            </a:r>
          </a:p>
        </p:txBody>
      </p:sp>
      <p:sp>
        <p:nvSpPr>
          <p:cNvPr id="5" name="Rounded Rectangle 4"/>
          <p:cNvSpPr/>
          <p:nvPr/>
        </p:nvSpPr>
        <p:spPr>
          <a:xfrm>
            <a:off x="731520" y="1554480"/>
            <a:ext cx="5120640" cy="4663440"/>
          </a:xfrm>
          <a:prstGeom prst="roundRect">
            <a:avLst/>
          </a:prstGeom>
          <a:solidFill>
            <a:srgbClr val="141A29"/>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_imbalance.png"/>
          <p:cNvPicPr>
            <a:picLocks noChangeAspect="1"/>
          </p:cNvPicPr>
          <p:nvPr/>
        </p:nvPicPr>
        <p:blipFill>
          <a:blip r:embed="rId3"/>
          <a:stretch>
            <a:fillRect/>
          </a:stretch>
        </p:blipFill>
        <p:spPr>
          <a:xfrm>
            <a:off x="914400" y="1737360"/>
            <a:ext cx="4754880" cy="5115415"/>
          </a:xfrm>
          <a:prstGeom prst="rect">
            <a:avLst/>
          </a:prstGeom>
        </p:spPr>
      </p:pic>
      <p:sp>
        <p:nvSpPr>
          <p:cNvPr id="7" name="Rounded Rectangle 6"/>
          <p:cNvSpPr/>
          <p:nvPr/>
        </p:nvSpPr>
        <p:spPr>
          <a:xfrm>
            <a:off x="6126480" y="1554480"/>
            <a:ext cx="530352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828800"/>
            <a:ext cx="4754880" cy="4114800"/>
          </a:xfrm>
          <a:prstGeom prst="rect">
            <a:avLst/>
          </a:prstGeom>
          <a:noFill/>
        </p:spPr>
        <p:txBody>
          <a:bodyPr wrap="square">
            <a:spAutoFit/>
          </a:bodyPr>
          <a:lstStyle/>
          <a:p>
            <a:pPr>
              <a:defRPr sz="1600" b="1">
                <a:solidFill>
                  <a:srgbClr val="38BDF8"/>
                </a:solidFill>
              </a:defRPr>
            </a:pPr>
            <a:r>
              <a:t>Fenomena 'The Accuracy Paradox'</a:t>
            </a:r>
          </a:p>
          <a:p>
            <a:pPr>
              <a:spcBef>
                <a:spcPts val="1200"/>
              </a:spcBef>
              <a:defRPr sz="1200" b="1">
                <a:solidFill>
                  <a:srgbClr val="F1F5F9"/>
                </a:solidFill>
              </a:defRPr>
            </a:pPr>
            <a:r>
              <a:t>🚨 Ketimpangan Ekstrem (2,6% vs 97,4%)</a:t>
            </a:r>
          </a:p>
          <a:p>
            <a:pPr>
              <a:defRPr sz="1050">
                <a:solidFill>
                  <a:srgbClr val="94A3B8"/>
                </a:solidFill>
              </a:defRPr>
            </a:pPr>
            <a:r>
              <a:t>Dari 1.200 remaja, hanya 31 orang yang berlabel depresi (1) dan 1.169 orang sehat (0).</a:t>
            </a:r>
          </a:p>
          <a:p>
            <a:pPr>
              <a:spcBef>
                <a:spcPts val="1200"/>
              </a:spcBef>
              <a:defRPr sz="1200" b="1">
                <a:solidFill>
                  <a:srgbClr val="F1F5F9"/>
                </a:solidFill>
              </a:defRPr>
            </a:pPr>
            <a:r>
              <a:t>⚠️ Mengapa Akurasi Tinggi Menipu?</a:t>
            </a:r>
          </a:p>
          <a:p>
            <a:pPr>
              <a:defRPr sz="1050">
                <a:solidFill>
                  <a:srgbClr val="94A3B8"/>
                </a:solidFill>
              </a:defRPr>
            </a:pPr>
            <a:r>
              <a:t>Model paling bodoh sekalipun yang hanya menebak 'Semua Orang Sehat' otomatis meraih Akurasi 97,4%! Padahal model tersebut gagal total menyelamatkan 1 pun anak depresi.</a:t>
            </a:r>
          </a:p>
          <a:p>
            <a:pPr>
              <a:spcBef>
                <a:spcPts val="1200"/>
              </a:spcBef>
              <a:defRPr sz="1200" b="1">
                <a:solidFill>
                  <a:srgbClr val="F1F5F9"/>
                </a:solidFill>
              </a:defRPr>
            </a:pPr>
            <a:r>
              <a:t>🛡️ Dua Solusi Wajib yang Kami Terapkan:</a:t>
            </a:r>
          </a:p>
          <a:p>
            <a:pPr>
              <a:defRPr sz="1050">
                <a:solidFill>
                  <a:srgbClr val="94A3B8"/>
                </a:solidFill>
              </a:defRPr>
            </a:pPr>
            <a:r>
              <a:t>1. Pembagian Data: Wajib menggunakan 'stratify=y' agar porsi 2,6% tidak hilang di data latih/uji.</a:t>
            </a:r>
            <a:br/>
            <a:r>
              <a:t>2. Metrik Utama: Berpindah dari Akurasi ke Recall (Sensitivitas) dan Confusion Matrix.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04 • TEMUAN EKSPLORASI DATA</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Korelasi Kunci: Jam Tidur Rendah &amp; Medsos Berlebih Memicu Risiko</a:t>
            </a:r>
          </a:p>
        </p:txBody>
      </p:sp>
      <p:sp>
        <p:nvSpPr>
          <p:cNvPr id="5" name="Rounded Rectangle 4"/>
          <p:cNvSpPr/>
          <p:nvPr/>
        </p:nvSpPr>
        <p:spPr>
          <a:xfrm>
            <a:off x="731520" y="1554480"/>
            <a:ext cx="521208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_heatmap.png"/>
          <p:cNvPicPr>
            <a:picLocks noChangeAspect="1"/>
          </p:cNvPicPr>
          <p:nvPr/>
        </p:nvPicPr>
        <p:blipFill>
          <a:blip r:embed="rId3"/>
          <a:stretch>
            <a:fillRect/>
          </a:stretch>
        </p:blipFill>
        <p:spPr>
          <a:xfrm>
            <a:off x="868680" y="1691640"/>
            <a:ext cx="4937760" cy="3673120"/>
          </a:xfrm>
          <a:prstGeom prst="rect">
            <a:avLst/>
          </a:prstGeom>
        </p:spPr>
      </p:pic>
      <p:sp>
        <p:nvSpPr>
          <p:cNvPr id="7" name="Rounded Rectangle 6"/>
          <p:cNvSpPr/>
          <p:nvPr/>
        </p:nvSpPr>
        <p:spPr>
          <a:xfrm>
            <a:off x="6217920" y="1554480"/>
            <a:ext cx="5212080" cy="4663440"/>
          </a:xfrm>
          <a:prstGeom prst="roundRect">
            <a:avLst/>
          </a:prstGeom>
          <a:solidFill>
            <a:srgbClr val="141A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828800"/>
            <a:ext cx="4663440" cy="4114800"/>
          </a:xfrm>
          <a:prstGeom prst="rect">
            <a:avLst/>
          </a:prstGeom>
          <a:noFill/>
        </p:spPr>
        <p:txBody>
          <a:bodyPr wrap="square">
            <a:spAutoFit/>
          </a:bodyPr>
          <a:lstStyle/>
          <a:p>
            <a:pPr>
              <a:defRPr sz="1600" b="1">
                <a:solidFill>
                  <a:srgbClr val="F59E0B"/>
                </a:solidFill>
              </a:defRPr>
            </a:pPr>
            <a:r>
              <a:t>3 Pola Hubungan Paling Dominan</a:t>
            </a:r>
          </a:p>
          <a:p>
            <a:pPr>
              <a:spcBef>
                <a:spcPts val="1000"/>
              </a:spcBef>
              <a:defRPr sz="1200" b="1">
                <a:solidFill>
                  <a:srgbClr val="F1F5F9"/>
                </a:solidFill>
              </a:defRPr>
            </a:pPr>
            <a:r>
              <a:t>🌙 Durasi Tidur (Korelasi: -0.19)</a:t>
            </a:r>
          </a:p>
          <a:p>
            <a:pPr>
              <a:defRPr sz="1050">
                <a:solidFill>
                  <a:srgbClr val="94A3B8"/>
                </a:solidFill>
              </a:defRPr>
            </a:pPr>
            <a:r>
              <a:t>Hubungan terbalik paling kuat. Remaja depresi rata-rata hanya tidur 4–5 jam per malam, jauh di bawah angka normal remaja sehat (7–8 jam).</a:t>
            </a:r>
          </a:p>
          <a:p>
            <a:pPr>
              <a:spcBef>
                <a:spcPts val="1000"/>
              </a:spcBef>
              <a:defRPr sz="1200" b="1">
                <a:solidFill>
                  <a:srgbClr val="F1F5F9"/>
                </a:solidFill>
              </a:defRPr>
            </a:pPr>
            <a:r>
              <a:t>📱 Penggunaan Medsos (Korelasi: +0.18)</a:t>
            </a:r>
          </a:p>
          <a:p>
            <a:pPr>
              <a:defRPr sz="1050">
                <a:solidFill>
                  <a:srgbClr val="94A3B8"/>
                </a:solidFill>
              </a:defRPr>
            </a:pPr>
            <a:r>
              <a:t>Hubungan positif signifikan. Kasus depresi melonjak tajam pada remaja dengan durasi medsos di atas 5 jam per hari (indikasi doomscrolling).</a:t>
            </a:r>
          </a:p>
          <a:p>
            <a:pPr>
              <a:spcBef>
                <a:spcPts val="1000"/>
              </a:spcBef>
              <a:defRPr sz="1200" b="1">
                <a:solidFill>
                  <a:srgbClr val="F1F5F9"/>
                </a:solidFill>
              </a:defRPr>
            </a:pPr>
            <a:r>
              <a:t>🧠 Tingkat Stres &amp; Cemas (Korelasi: +0.17)</a:t>
            </a:r>
          </a:p>
          <a:p>
            <a:pPr>
              <a:defRPr sz="1050">
                <a:solidFill>
                  <a:srgbClr val="94A3B8"/>
                </a:solidFill>
              </a:defRPr>
            </a:pPr>
            <a:r>
              <a:t>Remaja dengan skor stres 8–10 memiliki probabilitas depresi berkali lipat lebih tinggi dibanding kelompok stres rendah.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05 • PRA-PEMROSESAN DATA</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Tabel Masalah, Tindakan, dan Alasan Berbasis Karakteristik Klinis</a:t>
            </a:r>
          </a:p>
        </p:txBody>
      </p:sp>
      <p:sp>
        <p:nvSpPr>
          <p:cNvPr id="5" name="Rounded Rectangle 4"/>
          <p:cNvSpPr/>
          <p:nvPr/>
        </p:nvSpPr>
        <p:spPr>
          <a:xfrm>
            <a:off x="731520" y="1554480"/>
            <a:ext cx="10698480" cy="4663440"/>
          </a:xfrm>
          <a:prstGeom prst="roundRect">
            <a:avLst/>
          </a:prstGeom>
          <a:solidFill>
            <a:srgbClr val="141A29"/>
          </a:solidFill>
          <a:ln w="19050">
            <a:solidFill>
              <a:srgbClr val="283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1005840" y="1828800"/>
          <a:ext cx="10149840" cy="4023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804672">
                <a:tc>
                  <a:txBody>
                    <a:bodyPr/>
                    <a:lstStyle/>
                    <a:p>
                      <a:pPr>
                        <a:defRPr sz="1100" b="1">
                          <a:solidFill>
                            <a:srgbClr val="38BDF8"/>
                          </a:solidFill>
                        </a:defRPr>
                      </a:pPr>
                      <a:r>
                        <a:t>Komponen Data</a:t>
                      </a:r>
                    </a:p>
                  </a:txBody>
                  <a:tcPr>
                    <a:solidFill>
                      <a:srgbClr val="1E293B"/>
                    </a:solidFill>
                  </a:tcPr>
                </a:tc>
                <a:tc>
                  <a:txBody>
                    <a:bodyPr/>
                    <a:lstStyle/>
                    <a:p>
                      <a:pPr>
                        <a:defRPr sz="1100" b="1">
                          <a:solidFill>
                            <a:srgbClr val="38BDF8"/>
                          </a:solidFill>
                        </a:defRPr>
                      </a:pPr>
                      <a:r>
                        <a:t>Kondisi di Dataset</a:t>
                      </a:r>
                    </a:p>
                  </a:txBody>
                  <a:tcPr>
                    <a:solidFill>
                      <a:srgbClr val="1E293B"/>
                    </a:solidFill>
                  </a:tcPr>
                </a:tc>
                <a:tc>
                  <a:txBody>
                    <a:bodyPr/>
                    <a:lstStyle/>
                    <a:p>
                      <a:pPr>
                        <a:defRPr sz="1100" b="1">
                          <a:solidFill>
                            <a:srgbClr val="38BDF8"/>
                          </a:solidFill>
                        </a:defRPr>
                      </a:pPr>
                      <a:r>
                        <a:t>Keputusan Teknis</a:t>
                      </a:r>
                    </a:p>
                  </a:txBody>
                  <a:tcPr>
                    <a:solidFill>
                      <a:srgbClr val="1E293B"/>
                    </a:solidFill>
                  </a:tcPr>
                </a:tc>
                <a:tc>
                  <a:txBody>
                    <a:bodyPr/>
                    <a:lstStyle/>
                    <a:p>
                      <a:pPr>
                        <a:defRPr sz="1100" b="1">
                          <a:solidFill>
                            <a:srgbClr val="38BDF8"/>
                          </a:solidFill>
                        </a:defRPr>
                      </a:pPr>
                      <a:r>
                        <a:t>Alasan Ilmiah / Medis</a:t>
                      </a:r>
                    </a:p>
                  </a:txBody>
                  <a:tcPr>
                    <a:solidFill>
                      <a:srgbClr val="1E293B"/>
                    </a:solidFill>
                  </a:tcPr>
                </a:tc>
                <a:extLst>
                  <a:ext uri="{0D108BD9-81ED-4DB2-BD59-A6C34878D82A}">
                    <a16:rowId xmlns:a16="http://schemas.microsoft.com/office/drawing/2014/main" val="10000"/>
                  </a:ext>
                </a:extLst>
              </a:tr>
              <a:tr h="804672">
                <a:tc>
                  <a:txBody>
                    <a:bodyPr/>
                    <a:lstStyle/>
                    <a:p>
                      <a:pPr>
                        <a:defRPr sz="1000">
                          <a:solidFill>
                            <a:srgbClr val="F1F5F9"/>
                          </a:solidFill>
                        </a:defRPr>
                      </a:pPr>
                      <a:r>
                        <a:t>Missing Value</a:t>
                      </a:r>
                    </a:p>
                  </a:txBody>
                  <a:tcPr>
                    <a:solidFill>
                      <a:srgbClr val="141A29"/>
                    </a:solidFill>
                  </a:tcPr>
                </a:tc>
                <a:tc>
                  <a:txBody>
                    <a:bodyPr/>
                    <a:lstStyle/>
                    <a:p>
                      <a:pPr>
                        <a:defRPr sz="1000">
                          <a:solidFill>
                            <a:srgbClr val="94A3B8"/>
                          </a:solidFill>
                        </a:defRPr>
                      </a:pPr>
                      <a:r>
                        <a:t>0 nilai kosong</a:t>
                      </a:r>
                    </a:p>
                  </a:txBody>
                  <a:tcPr>
                    <a:solidFill>
                      <a:srgbClr val="141A29"/>
                    </a:solidFill>
                  </a:tcPr>
                </a:tc>
                <a:tc>
                  <a:txBody>
                    <a:bodyPr/>
                    <a:lstStyle/>
                    <a:p>
                      <a:pPr>
                        <a:defRPr sz="1000">
                          <a:solidFill>
                            <a:srgbClr val="94A3B8"/>
                          </a:solidFill>
                        </a:defRPr>
                      </a:pPr>
                      <a:r>
                        <a:t>Tidak dilakukan imputasi</a:t>
                      </a:r>
                    </a:p>
                  </a:txBody>
                  <a:tcPr>
                    <a:solidFill>
                      <a:srgbClr val="141A29"/>
                    </a:solidFill>
                  </a:tcPr>
                </a:tc>
                <a:tc>
                  <a:txBody>
                    <a:bodyPr/>
                    <a:lstStyle/>
                    <a:p>
                      <a:pPr>
                        <a:defRPr sz="1000">
                          <a:solidFill>
                            <a:srgbClr val="94A3B8"/>
                          </a:solidFill>
                        </a:defRPr>
                      </a:pPr>
                      <a:r>
                        <a:t>Integritas data survei utuh tanpa manipulasi tiruan.</a:t>
                      </a:r>
                    </a:p>
                  </a:txBody>
                  <a:tcPr>
                    <a:solidFill>
                      <a:srgbClr val="141A29"/>
                    </a:solidFill>
                  </a:tcPr>
                </a:tc>
                <a:extLst>
                  <a:ext uri="{0D108BD9-81ED-4DB2-BD59-A6C34878D82A}">
                    <a16:rowId xmlns:a16="http://schemas.microsoft.com/office/drawing/2014/main" val="10001"/>
                  </a:ext>
                </a:extLst>
              </a:tr>
              <a:tr h="804672">
                <a:tc>
                  <a:txBody>
                    <a:bodyPr/>
                    <a:lstStyle/>
                    <a:p>
                      <a:pPr>
                        <a:defRPr sz="1000">
                          <a:solidFill>
                            <a:srgbClr val="F1F5F9"/>
                          </a:solidFill>
                        </a:defRPr>
                      </a:pPr>
                      <a:r>
                        <a:t>Baris Duplikat</a:t>
                      </a:r>
                    </a:p>
                  </a:txBody>
                  <a:tcPr>
                    <a:solidFill>
                      <a:srgbClr val="101624"/>
                    </a:solidFill>
                  </a:tcPr>
                </a:tc>
                <a:tc>
                  <a:txBody>
                    <a:bodyPr/>
                    <a:lstStyle/>
                    <a:p>
                      <a:pPr>
                        <a:defRPr sz="1000">
                          <a:solidFill>
                            <a:srgbClr val="94A3B8"/>
                          </a:solidFill>
                        </a:defRPr>
                      </a:pPr>
                      <a:r>
                        <a:t>0 baris identik</a:t>
                      </a:r>
                    </a:p>
                  </a:txBody>
                  <a:tcPr>
                    <a:solidFill>
                      <a:srgbClr val="101624"/>
                    </a:solidFill>
                  </a:tcPr>
                </a:tc>
                <a:tc>
                  <a:txBody>
                    <a:bodyPr/>
                    <a:lstStyle/>
                    <a:p>
                      <a:pPr>
                        <a:defRPr sz="1000">
                          <a:solidFill>
                            <a:srgbClr val="94A3B8"/>
                          </a:solidFill>
                        </a:defRPr>
                      </a:pPr>
                      <a:r>
                        <a:t>Dipertahankan semua</a:t>
                      </a:r>
                    </a:p>
                  </a:txBody>
                  <a:tcPr>
                    <a:solidFill>
                      <a:srgbClr val="101624"/>
                    </a:solidFill>
                  </a:tcPr>
                </a:tc>
                <a:tc>
                  <a:txBody>
                    <a:bodyPr/>
                    <a:lstStyle/>
                    <a:p>
                      <a:pPr>
                        <a:defRPr sz="1000">
                          <a:solidFill>
                            <a:srgbClr val="94A3B8"/>
                          </a:solidFill>
                        </a:defRPr>
                      </a:pPr>
                      <a:r>
                        <a:t>Tiap baris merupakan subjek remaja yang unik.</a:t>
                      </a:r>
                    </a:p>
                  </a:txBody>
                  <a:tcPr>
                    <a:solidFill>
                      <a:srgbClr val="101624"/>
                    </a:solidFill>
                  </a:tcPr>
                </a:tc>
                <a:extLst>
                  <a:ext uri="{0D108BD9-81ED-4DB2-BD59-A6C34878D82A}">
                    <a16:rowId xmlns:a16="http://schemas.microsoft.com/office/drawing/2014/main" val="10002"/>
                  </a:ext>
                </a:extLst>
              </a:tr>
              <a:tr h="804672">
                <a:tc>
                  <a:txBody>
                    <a:bodyPr/>
                    <a:lstStyle/>
                    <a:p>
                      <a:pPr>
                        <a:defRPr sz="1000">
                          <a:solidFill>
                            <a:srgbClr val="F1F5F9"/>
                          </a:solidFill>
                        </a:defRPr>
                      </a:pPr>
                      <a:r>
                        <a:t>Deteksi Outlier</a:t>
                      </a:r>
                    </a:p>
                  </a:txBody>
                  <a:tcPr>
                    <a:solidFill>
                      <a:srgbClr val="141A29"/>
                    </a:solidFill>
                  </a:tcPr>
                </a:tc>
                <a:tc>
                  <a:txBody>
                    <a:bodyPr/>
                    <a:lstStyle/>
                    <a:p>
                      <a:pPr>
                        <a:defRPr sz="1000">
                          <a:solidFill>
                            <a:srgbClr val="94A3B8"/>
                          </a:solidFill>
                        </a:defRPr>
                      </a:pPr>
                      <a:r>
                        <a:t>Skor stres &amp; tidur ekstrem</a:t>
                      </a:r>
                    </a:p>
                  </a:txBody>
                  <a:tcPr>
                    <a:solidFill>
                      <a:srgbClr val="141A29"/>
                    </a:solidFill>
                  </a:tcPr>
                </a:tc>
                <a:tc>
                  <a:txBody>
                    <a:bodyPr/>
                    <a:lstStyle/>
                    <a:p>
                      <a:pPr>
                        <a:defRPr sz="1000">
                          <a:solidFill>
                            <a:srgbClr val="94A3B8"/>
                          </a:solidFill>
                        </a:defRPr>
                      </a:pPr>
                      <a:r>
                        <a:t>TIDAK DIHAPUS (Metode IQR)</a:t>
                      </a:r>
                    </a:p>
                  </a:txBody>
                  <a:tcPr>
                    <a:solidFill>
                      <a:srgbClr val="141A29"/>
                    </a:solidFill>
                  </a:tcPr>
                </a:tc>
                <a:tc>
                  <a:txBody>
                    <a:bodyPr/>
                    <a:lstStyle/>
                    <a:p>
                      <a:pPr>
                        <a:defRPr sz="1000">
                          <a:solidFill>
                            <a:srgbClr val="94A3B8"/>
                          </a:solidFill>
                        </a:defRPr>
                      </a:pPr>
                      <a:r>
                        <a:t>Nilai ekstrem adalah sinyal klinis kondisi depresi nyata, bukan noise. Tree-based model kebal outlier.</a:t>
                      </a:r>
                    </a:p>
                  </a:txBody>
                  <a:tcPr>
                    <a:solidFill>
                      <a:srgbClr val="141A29"/>
                    </a:solidFill>
                  </a:tcPr>
                </a:tc>
                <a:extLst>
                  <a:ext uri="{0D108BD9-81ED-4DB2-BD59-A6C34878D82A}">
                    <a16:rowId xmlns:a16="http://schemas.microsoft.com/office/drawing/2014/main" val="10003"/>
                  </a:ext>
                </a:extLst>
              </a:tr>
              <a:tr h="804672">
                <a:tc>
                  <a:txBody>
                    <a:bodyPr/>
                    <a:lstStyle/>
                    <a:p>
                      <a:pPr>
                        <a:defRPr sz="1000">
                          <a:solidFill>
                            <a:srgbClr val="F1F5F9"/>
                          </a:solidFill>
                        </a:defRPr>
                      </a:pPr>
                      <a:r>
                        <a:t>Encoding Kategori</a:t>
                      </a:r>
                    </a:p>
                  </a:txBody>
                  <a:tcPr>
                    <a:solidFill>
                      <a:srgbClr val="101624"/>
                    </a:solidFill>
                  </a:tcPr>
                </a:tc>
                <a:tc>
                  <a:txBody>
                    <a:bodyPr/>
                    <a:lstStyle/>
                    <a:p>
                      <a:pPr>
                        <a:defRPr sz="1000">
                          <a:solidFill>
                            <a:srgbClr val="94A3B8"/>
                          </a:solidFill>
                        </a:defRPr>
                      </a:pPr>
                      <a:r>
                        <a:t>gender, interaction, platform</a:t>
                      </a:r>
                    </a:p>
                  </a:txBody>
                  <a:tcPr>
                    <a:solidFill>
                      <a:srgbClr val="101624"/>
                    </a:solidFill>
                  </a:tcPr>
                </a:tc>
                <a:tc>
                  <a:txBody>
                    <a:bodyPr/>
                    <a:lstStyle/>
                    <a:p>
                      <a:pPr>
                        <a:defRPr sz="1000">
                          <a:solidFill>
                            <a:srgbClr val="94A3B8"/>
                          </a:solidFill>
                        </a:defRPr>
                      </a:pPr>
                      <a:r>
                        <a:t>Biner (0/1), Ordinal (0-2), &amp; One-Hot Encoding</a:t>
                      </a:r>
                    </a:p>
                  </a:txBody>
                  <a:tcPr>
                    <a:solidFill>
                      <a:srgbClr val="101624"/>
                    </a:solidFill>
                  </a:tcPr>
                </a:tc>
                <a:tc>
                  <a:txBody>
                    <a:bodyPr/>
                    <a:lstStyle/>
                    <a:p>
                      <a:pPr>
                        <a:defRPr sz="1000">
                          <a:solidFill>
                            <a:srgbClr val="94A3B8"/>
                          </a:solidFill>
                        </a:defRPr>
                      </a:pPr>
                      <a:r>
                        <a:t>Menjaga hierarki alami 'low' &lt; 'medium' &lt; 'high' dan mencegah ranking palsu pada nama platform.</a:t>
                      </a:r>
                    </a:p>
                  </a:txBody>
                  <a:tcPr>
                    <a:solidFill>
                      <a:srgbClr val="10162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06 • STRATEGI VALIDASI</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Prosedur Split Data &amp; Validasi Silang Bebas Kebocoran (Data Leakage)</a:t>
            </a:r>
          </a:p>
        </p:txBody>
      </p:sp>
      <p:sp>
        <p:nvSpPr>
          <p:cNvPr id="5" name="Rounded Rectangle 4"/>
          <p:cNvSpPr/>
          <p:nvPr/>
        </p:nvSpPr>
        <p:spPr>
          <a:xfrm>
            <a:off x="731520" y="1554480"/>
            <a:ext cx="256032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37360"/>
            <a:ext cx="2286000" cy="3474720"/>
          </a:xfrm>
          <a:prstGeom prst="rect">
            <a:avLst/>
          </a:prstGeom>
          <a:noFill/>
        </p:spPr>
        <p:txBody>
          <a:bodyPr wrap="square">
            <a:spAutoFit/>
          </a:bodyPr>
          <a:lstStyle/>
          <a:p>
            <a:pPr>
              <a:defRPr sz="3200" b="1">
                <a:solidFill>
                  <a:srgbClr val="38BDF8"/>
                </a:solidFill>
              </a:defRPr>
            </a:pPr>
            <a:r>
              <a:t>01</a:t>
            </a:r>
          </a:p>
          <a:p>
            <a:pPr>
              <a:spcBef>
                <a:spcPts val="400"/>
              </a:spcBef>
              <a:spcAft>
                <a:spcPts val="1000"/>
              </a:spcAft>
              <a:defRPr sz="1300" b="1">
                <a:solidFill>
                  <a:srgbClr val="F1F5F9"/>
                </a:solidFill>
              </a:defRPr>
            </a:pPr>
            <a:r>
              <a:t>Stratified Split 80:20</a:t>
            </a:r>
          </a:p>
          <a:p>
            <a:pPr>
              <a:spcAft>
                <a:spcPts val="400"/>
              </a:spcAft>
              <a:defRPr sz="1050">
                <a:solidFill>
                  <a:srgbClr val="94A3B8"/>
                </a:solidFill>
              </a:defRPr>
            </a:pPr>
            <a:r>
              <a:t>• Data Latih: 960 (25 Depresi)</a:t>
            </a:r>
          </a:p>
          <a:p>
            <a:pPr>
              <a:spcAft>
                <a:spcPts val="400"/>
              </a:spcAft>
              <a:defRPr sz="1050">
                <a:solidFill>
                  <a:srgbClr val="94A3B8"/>
                </a:solidFill>
              </a:defRPr>
            </a:pPr>
            <a:r>
              <a:t>• Data Uji: 240 (6 Depresi)</a:t>
            </a:r>
          </a:p>
          <a:p>
            <a:pPr>
              <a:spcAft>
                <a:spcPts val="400"/>
              </a:spcAft>
              <a:defRPr sz="1050">
                <a:solidFill>
                  <a:srgbClr val="94A3B8"/>
                </a:solidFill>
              </a:defRPr>
            </a:pPr>
            <a:r>
              <a:t>• Rasio 2,6% terjaga sempurna di kedua partisi data.</a:t>
            </a:r>
          </a:p>
        </p:txBody>
      </p:sp>
      <p:sp>
        <p:nvSpPr>
          <p:cNvPr id="7" name="Rounded Rectangle 6"/>
          <p:cNvSpPr/>
          <p:nvPr/>
        </p:nvSpPr>
        <p:spPr>
          <a:xfrm>
            <a:off x="868680" y="5394960"/>
            <a:ext cx="2286000" cy="5029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Hasil: 25 Kasus di Train, 6 di Test</a:t>
            </a:r>
          </a:p>
        </p:txBody>
      </p:sp>
      <p:sp>
        <p:nvSpPr>
          <p:cNvPr id="8" name="Rounded Rectangle 7"/>
          <p:cNvSpPr/>
          <p:nvPr/>
        </p:nvSpPr>
        <p:spPr>
          <a:xfrm>
            <a:off x="3474720" y="1554480"/>
            <a:ext cx="2560320" cy="4663440"/>
          </a:xfrm>
          <a:prstGeom prst="roundRect">
            <a:avLst/>
          </a:prstGeom>
          <a:solidFill>
            <a:srgbClr val="141A29"/>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79" y="1737360"/>
            <a:ext cx="2286000" cy="3474720"/>
          </a:xfrm>
          <a:prstGeom prst="rect">
            <a:avLst/>
          </a:prstGeom>
          <a:noFill/>
        </p:spPr>
        <p:txBody>
          <a:bodyPr wrap="square">
            <a:spAutoFit/>
          </a:bodyPr>
          <a:lstStyle/>
          <a:p>
            <a:pPr>
              <a:defRPr sz="3200" b="1">
                <a:solidFill>
                  <a:srgbClr val="F1F5F9"/>
                </a:solidFill>
              </a:defRPr>
            </a:pPr>
            <a:r>
              <a:t>02</a:t>
            </a:r>
          </a:p>
          <a:p>
            <a:pPr>
              <a:spcBef>
                <a:spcPts val="400"/>
              </a:spcBef>
              <a:spcAft>
                <a:spcPts val="1000"/>
              </a:spcAft>
              <a:defRPr sz="1300" b="1">
                <a:solidFill>
                  <a:srgbClr val="F1F5F9"/>
                </a:solidFill>
              </a:defRPr>
            </a:pPr>
            <a:r>
              <a:t>StandardScaler Anti-Bocor</a:t>
            </a:r>
          </a:p>
          <a:p>
            <a:pPr>
              <a:spcAft>
                <a:spcPts val="400"/>
              </a:spcAft>
              <a:defRPr sz="1050">
                <a:solidFill>
                  <a:srgbClr val="94A3B8"/>
                </a:solidFill>
              </a:defRPr>
            </a:pPr>
            <a:r>
              <a:t>• Fit HANYA pada data latih.</a:t>
            </a:r>
          </a:p>
          <a:p>
            <a:pPr>
              <a:spcAft>
                <a:spcPts val="400"/>
              </a:spcAft>
              <a:defRPr sz="1050">
                <a:solidFill>
                  <a:srgbClr val="94A3B8"/>
                </a:solidFill>
              </a:defRPr>
            </a:pPr>
            <a:r>
              <a:t>• Transform data latih &amp; uji.</a:t>
            </a:r>
          </a:p>
          <a:p>
            <a:pPr>
              <a:spcAft>
                <a:spcPts val="400"/>
              </a:spcAft>
              <a:defRPr sz="1050">
                <a:solidFill>
                  <a:srgbClr val="94A3B8"/>
                </a:solidFill>
              </a:defRPr>
            </a:pPr>
            <a:r>
              <a:t>• Informasi data uji tidak bocor ke model sebelum pengujian.</a:t>
            </a:r>
          </a:p>
        </p:txBody>
      </p:sp>
      <p:sp>
        <p:nvSpPr>
          <p:cNvPr id="10" name="Rounded Rectangle 9"/>
          <p:cNvSpPr/>
          <p:nvPr/>
        </p:nvSpPr>
        <p:spPr>
          <a:xfrm>
            <a:off x="3611879" y="5394960"/>
            <a:ext cx="2286000" cy="502920"/>
          </a:xfrm>
          <a:prstGeom prst="roundRect">
            <a:avLst/>
          </a:prstGeom>
          <a:solidFill>
            <a:srgbClr val="0F172A"/>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1F5F9"/>
                </a:solidFill>
              </a:defRPr>
            </a:pPr>
            <a:r>
              <a:t>Kepatuhan: Zero Data Leakage</a:t>
            </a:r>
          </a:p>
        </p:txBody>
      </p:sp>
      <p:sp>
        <p:nvSpPr>
          <p:cNvPr id="11" name="Rounded Rectangle 10"/>
          <p:cNvSpPr/>
          <p:nvPr/>
        </p:nvSpPr>
        <p:spPr>
          <a:xfrm>
            <a:off x="6217920" y="1554480"/>
            <a:ext cx="2560320" cy="4663440"/>
          </a:xfrm>
          <a:prstGeom prst="roundRect">
            <a:avLst/>
          </a:prstGeom>
          <a:solidFill>
            <a:srgbClr val="141A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1737360"/>
            <a:ext cx="2286000" cy="3474720"/>
          </a:xfrm>
          <a:prstGeom prst="rect">
            <a:avLst/>
          </a:prstGeom>
          <a:noFill/>
        </p:spPr>
        <p:txBody>
          <a:bodyPr wrap="square">
            <a:spAutoFit/>
          </a:bodyPr>
          <a:lstStyle/>
          <a:p>
            <a:pPr>
              <a:defRPr sz="3200" b="1">
                <a:solidFill>
                  <a:srgbClr val="F59E0B"/>
                </a:solidFill>
              </a:defRPr>
            </a:pPr>
            <a:r>
              <a:t>03</a:t>
            </a:r>
          </a:p>
          <a:p>
            <a:pPr>
              <a:spcBef>
                <a:spcPts val="400"/>
              </a:spcBef>
              <a:spcAft>
                <a:spcPts val="1000"/>
              </a:spcAft>
              <a:defRPr sz="1300" b="1">
                <a:solidFill>
                  <a:srgbClr val="F1F5F9"/>
                </a:solidFill>
              </a:defRPr>
            </a:pPr>
            <a:r>
              <a:t>5-Fold Stratified CV</a:t>
            </a:r>
          </a:p>
          <a:p>
            <a:pPr>
              <a:spcAft>
                <a:spcPts val="400"/>
              </a:spcAft>
              <a:defRPr sz="1050">
                <a:solidFill>
                  <a:srgbClr val="94A3B8"/>
                </a:solidFill>
              </a:defRPr>
            </a:pPr>
            <a:r>
              <a:t>• Evaluasi di data latih memakai 5 lipatan berstrata.</a:t>
            </a:r>
          </a:p>
          <a:p>
            <a:pPr>
              <a:spcAft>
                <a:spcPts val="400"/>
              </a:spcAft>
              <a:defRPr sz="1050">
                <a:solidFill>
                  <a:srgbClr val="94A3B8"/>
                </a:solidFill>
              </a:defRPr>
            </a:pPr>
            <a:r>
              <a:t>• Tiap lipatan memuat sampel depresi proporsional.</a:t>
            </a:r>
          </a:p>
        </p:txBody>
      </p:sp>
      <p:sp>
        <p:nvSpPr>
          <p:cNvPr id="13" name="Rounded Rectangle 12"/>
          <p:cNvSpPr/>
          <p:nvPr/>
        </p:nvSpPr>
        <p:spPr>
          <a:xfrm>
            <a:off x="6355080" y="5394960"/>
            <a:ext cx="2286000" cy="50292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59E0B"/>
                </a:solidFill>
              </a:defRPr>
            </a:pPr>
            <a:r>
              <a:t>Tujuan: Evaluasi Kestabilan Model</a:t>
            </a:r>
          </a:p>
        </p:txBody>
      </p:sp>
      <p:sp>
        <p:nvSpPr>
          <p:cNvPr id="14" name="Rounded Rectangle 13"/>
          <p:cNvSpPr/>
          <p:nvPr/>
        </p:nvSpPr>
        <p:spPr>
          <a:xfrm>
            <a:off x="8961120" y="1554480"/>
            <a:ext cx="2560320" cy="466344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98280" y="1737360"/>
            <a:ext cx="2286000" cy="3474720"/>
          </a:xfrm>
          <a:prstGeom prst="rect">
            <a:avLst/>
          </a:prstGeom>
          <a:noFill/>
        </p:spPr>
        <p:txBody>
          <a:bodyPr wrap="square">
            <a:spAutoFit/>
          </a:bodyPr>
          <a:lstStyle/>
          <a:p>
            <a:pPr>
              <a:defRPr sz="3200" b="1">
                <a:solidFill>
                  <a:srgbClr val="10B981"/>
                </a:solidFill>
              </a:defRPr>
            </a:pPr>
            <a:r>
              <a:t>04</a:t>
            </a:r>
          </a:p>
          <a:p>
            <a:pPr>
              <a:spcBef>
                <a:spcPts val="400"/>
              </a:spcBef>
              <a:spcAft>
                <a:spcPts val="1000"/>
              </a:spcAft>
              <a:defRPr sz="1300" b="1">
                <a:solidFill>
                  <a:srgbClr val="F1F5F9"/>
                </a:solidFill>
              </a:defRPr>
            </a:pPr>
            <a:r>
              <a:t>Data Uji Sekali Pakai</a:t>
            </a:r>
          </a:p>
          <a:p>
            <a:pPr>
              <a:spcAft>
                <a:spcPts val="400"/>
              </a:spcAft>
              <a:defRPr sz="1050">
                <a:solidFill>
                  <a:srgbClr val="94A3B8"/>
                </a:solidFill>
              </a:defRPr>
            </a:pPr>
            <a:r>
              <a:t>• Data uji disimpan di brankas.</a:t>
            </a:r>
          </a:p>
          <a:p>
            <a:pPr>
              <a:spcAft>
                <a:spcPts val="400"/>
              </a:spcAft>
              <a:defRPr sz="1050">
                <a:solidFill>
                  <a:srgbClr val="94A3B8"/>
                </a:solidFill>
              </a:defRPr>
            </a:pPr>
            <a:r>
              <a:t>• Hanya dievaluasi 1x pada model terbaik sebagai laporan akhir.</a:t>
            </a:r>
          </a:p>
        </p:txBody>
      </p:sp>
      <p:sp>
        <p:nvSpPr>
          <p:cNvPr id="16" name="Rounded Rectangle 15"/>
          <p:cNvSpPr/>
          <p:nvPr/>
        </p:nvSpPr>
        <p:spPr>
          <a:xfrm>
            <a:off x="9098280" y="5394960"/>
            <a:ext cx="2286000" cy="5029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10B981"/>
                </a:solidFill>
              </a:defRPr>
            </a:pPr>
            <a:r>
              <a:t>Kaidah: Murni Evaluasi Akhir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07 • MODEL STANDAR (WAJIB)</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Model Standar KNN (k=7) &amp; Pembuktian Kegagalan Akurasi Semu</a:t>
            </a:r>
          </a:p>
        </p:txBody>
      </p:sp>
      <p:sp>
        <p:nvSpPr>
          <p:cNvPr id="5" name="Rounded Rectangle 4"/>
          <p:cNvSpPr/>
          <p:nvPr/>
        </p:nvSpPr>
        <p:spPr>
          <a:xfrm>
            <a:off x="731520" y="1554480"/>
            <a:ext cx="3657600" cy="219456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3474720" cy="1828800"/>
          </a:xfrm>
          <a:prstGeom prst="rect">
            <a:avLst/>
          </a:prstGeom>
          <a:noFill/>
        </p:spPr>
        <p:txBody>
          <a:bodyPr wrap="square">
            <a:spAutoFit/>
          </a:bodyPr>
          <a:lstStyle/>
          <a:p>
            <a:pPr>
              <a:defRPr sz="1000">
                <a:solidFill>
                  <a:srgbClr val="94A3B8"/>
                </a:solidFill>
              </a:defRPr>
            </a:pPr>
            <a:r>
              <a:t>AKURASI UJI KNN (k=7)</a:t>
            </a:r>
          </a:p>
          <a:p>
            <a:pPr>
              <a:defRPr sz="3600" b="1">
                <a:solidFill>
                  <a:srgbClr val="38BDF8"/>
                </a:solidFill>
              </a:defRPr>
            </a:pPr>
            <a:r>
              <a:t>97,50%</a:t>
            </a:r>
          </a:p>
          <a:p>
            <a:pPr>
              <a:defRPr sz="950">
                <a:solidFill>
                  <a:srgbClr val="94A3B8"/>
                </a:solidFill>
              </a:defRPr>
            </a:pPr>
            <a:r>
              <a:t>Terlihat impresif jika dilihat sekilas...</a:t>
            </a:r>
          </a:p>
        </p:txBody>
      </p:sp>
      <p:sp>
        <p:nvSpPr>
          <p:cNvPr id="7" name="Rounded Rectangle 6"/>
          <p:cNvSpPr/>
          <p:nvPr/>
        </p:nvSpPr>
        <p:spPr>
          <a:xfrm>
            <a:off x="731520" y="4023360"/>
            <a:ext cx="3657600" cy="2194560"/>
          </a:xfrm>
          <a:prstGeom prst="roundRect">
            <a:avLst/>
          </a:prstGeom>
          <a:solidFill>
            <a:srgbClr val="141A29"/>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4206240"/>
            <a:ext cx="3474720" cy="1828800"/>
          </a:xfrm>
          <a:prstGeom prst="rect">
            <a:avLst/>
          </a:prstGeom>
          <a:noFill/>
        </p:spPr>
        <p:txBody>
          <a:bodyPr wrap="square">
            <a:spAutoFit/>
          </a:bodyPr>
          <a:lstStyle/>
          <a:p>
            <a:pPr>
              <a:defRPr sz="1000">
                <a:solidFill>
                  <a:srgbClr val="94A3B8"/>
                </a:solidFill>
              </a:defRPr>
            </a:pPr>
            <a:r>
              <a:t>SENSITIVITAS / RECALL</a:t>
            </a:r>
          </a:p>
          <a:p>
            <a:pPr>
              <a:defRPr sz="3600" b="1">
                <a:solidFill>
                  <a:srgbClr val="F43F5E"/>
                </a:solidFill>
              </a:defRPr>
            </a:pPr>
            <a:r>
              <a:t>0,00%</a:t>
            </a:r>
          </a:p>
          <a:p>
            <a:pPr>
              <a:defRPr sz="950">
                <a:solidFill>
                  <a:srgbClr val="F43F5E"/>
                </a:solidFill>
              </a:defRPr>
            </a:pPr>
            <a:r>
              <a:t>GAGAL TOTAL: 0 dari 6 kasus depresi terdeteksi!</a:t>
            </a:r>
          </a:p>
        </p:txBody>
      </p:sp>
      <p:sp>
        <p:nvSpPr>
          <p:cNvPr id="9" name="Rounded Rectangle 8"/>
          <p:cNvSpPr/>
          <p:nvPr/>
        </p:nvSpPr>
        <p:spPr>
          <a:xfrm>
            <a:off x="4663440" y="1554480"/>
            <a:ext cx="6766560" cy="4663440"/>
          </a:xfrm>
          <a:prstGeom prst="roundRect">
            <a:avLst/>
          </a:prstGeom>
          <a:solidFill>
            <a:srgbClr val="141A29"/>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1828800"/>
            <a:ext cx="6217920" cy="4114800"/>
          </a:xfrm>
          <a:prstGeom prst="rect">
            <a:avLst/>
          </a:prstGeom>
          <a:noFill/>
        </p:spPr>
        <p:txBody>
          <a:bodyPr wrap="square">
            <a:spAutoFit/>
          </a:bodyPr>
          <a:lstStyle/>
          <a:p>
            <a:pPr>
              <a:defRPr sz="1600" b="1">
                <a:solidFill>
                  <a:srgbClr val="F43F5E"/>
                </a:solidFill>
              </a:defRPr>
            </a:pPr>
            <a:r>
              <a:t>Mengapa KNN Standar Tidak Layak untuk Skrining?</a:t>
            </a:r>
          </a:p>
          <a:p>
            <a:pPr>
              <a:spcBef>
                <a:spcPts val="800"/>
              </a:spcBef>
              <a:defRPr sz="1200" b="1">
                <a:solidFill>
                  <a:srgbClr val="F1F5F9"/>
                </a:solidFill>
              </a:defRPr>
            </a:pPr>
            <a:r>
              <a:t>1. Mekanisme Majority Voting:</a:t>
            </a:r>
          </a:p>
          <a:p>
            <a:pPr>
              <a:defRPr sz="1000">
                <a:solidFill>
                  <a:srgbClr val="94A3B8"/>
                </a:solidFill>
              </a:defRPr>
            </a:pPr>
            <a:r>
              <a:t>KNN menghitung jarak 7 tetangga terdekat. Karena 97,4% populasi sehat, tetangga terdekat mayoritas selalu kelas 0. Akibatnya, KNN memprediksi 'Sehat' untuk seluruh responden.</a:t>
            </a:r>
          </a:p>
          <a:p>
            <a:pPr>
              <a:spcBef>
                <a:spcPts val="800"/>
              </a:spcBef>
              <a:defRPr sz="1200" b="1">
                <a:solidFill>
                  <a:srgbClr val="F1F5F9"/>
                </a:solidFill>
              </a:defRPr>
            </a:pPr>
            <a:r>
              <a:t>2. Realitas Confusion Matrix di Data Uji:</a:t>
            </a:r>
          </a:p>
          <a:p>
            <a:pPr>
              <a:defRPr sz="1000">
                <a:solidFill>
                  <a:srgbClr val="94A3B8"/>
                </a:solidFill>
              </a:defRPr>
            </a:pPr>
            <a:r>
              <a:t>• True Negative: 234 siswa sehat ditebak BENAR.</a:t>
            </a:r>
            <a:br/>
            <a:r>
              <a:t>• False Negative: 6 siswa depresi ditebak SEHAT (Bahaya Fatal!).</a:t>
            </a:r>
            <a:br/>
            <a:r>
              <a:t>• True Positive: 0 kasus depresi ditemukan.</a:t>
            </a:r>
          </a:p>
          <a:p>
            <a:pPr>
              <a:spcBef>
                <a:spcPts val="800"/>
              </a:spcBef>
              <a:defRPr sz="1200" b="1">
                <a:solidFill>
                  <a:srgbClr val="F1F5F9"/>
                </a:solidFill>
              </a:defRPr>
            </a:pPr>
            <a:r>
              <a:t>3. Kesimpulan Evaluasi Model Standar:</a:t>
            </a:r>
          </a:p>
          <a:p>
            <a:pPr>
              <a:defRPr sz="1000">
                <a:solidFill>
                  <a:srgbClr val="94A3B8"/>
                </a:solidFill>
              </a:defRPr>
            </a:pPr>
            <a:r>
              <a:t>Akurasi 97,5% pada KNN adalah 'ilusi'. Model baseline ini gagal berfungsi sebagai alat skrining kesehatan mental remaja.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08 • KOMPARASI MODEL</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Benchmark 4 Algoritma: Mengapa XGBoost Menjadi Juara?</a:t>
            </a:r>
          </a:p>
        </p:txBody>
      </p:sp>
      <p:sp>
        <p:nvSpPr>
          <p:cNvPr id="5" name="Rounded Rectangle 4"/>
          <p:cNvSpPr/>
          <p:nvPr/>
        </p:nvSpPr>
        <p:spPr>
          <a:xfrm>
            <a:off x="731520" y="1554480"/>
            <a:ext cx="530352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_models.png"/>
          <p:cNvPicPr>
            <a:picLocks noChangeAspect="1"/>
          </p:cNvPicPr>
          <p:nvPr/>
        </p:nvPicPr>
        <p:blipFill>
          <a:blip r:embed="rId3"/>
          <a:stretch>
            <a:fillRect/>
          </a:stretch>
        </p:blipFill>
        <p:spPr>
          <a:xfrm>
            <a:off x="868680" y="1691640"/>
            <a:ext cx="5029200" cy="2611867"/>
          </a:xfrm>
          <a:prstGeom prst="rect">
            <a:avLst/>
          </a:prstGeom>
        </p:spPr>
      </p:pic>
      <p:sp>
        <p:nvSpPr>
          <p:cNvPr id="7" name="Rounded Rectangle 6"/>
          <p:cNvSpPr/>
          <p:nvPr/>
        </p:nvSpPr>
        <p:spPr>
          <a:xfrm>
            <a:off x="6309360" y="1554480"/>
            <a:ext cx="5120640" cy="466344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737360"/>
            <a:ext cx="4754880" cy="4206240"/>
          </a:xfrm>
          <a:prstGeom prst="rect">
            <a:avLst/>
          </a:prstGeom>
          <a:noFill/>
        </p:spPr>
        <p:txBody>
          <a:bodyPr wrap="square">
            <a:spAutoFit/>
          </a:bodyPr>
          <a:lstStyle/>
          <a:p>
            <a:pPr>
              <a:defRPr sz="1500" b="1">
                <a:solidFill>
                  <a:srgbClr val="10B981"/>
                </a:solidFill>
              </a:defRPr>
            </a:pPr>
            <a:r>
              <a:t>Tabel Rangkuman Metrik 4 Model</a:t>
            </a:r>
          </a:p>
          <a:p>
            <a:pPr>
              <a:spcAft>
                <a:spcPts val="1000"/>
              </a:spcAft>
              <a:defRPr sz="1000">
                <a:solidFill>
                  <a:srgbClr val="94A3B8"/>
                </a:solidFill>
              </a:defRPr>
            </a:pPr>
            <a:r>
              <a:t>(5-Fold Stratified Cross-Validation &amp; Uji Mandiri)</a:t>
            </a:r>
          </a:p>
          <a:p>
            <a:pPr>
              <a:spcBef>
                <a:spcPts val="600"/>
              </a:spcBef>
              <a:defRPr sz="1100" b="1">
                <a:solidFill>
                  <a:srgbClr val="F1F5F9"/>
                </a:solidFill>
              </a:defRPr>
            </a:pPr>
            <a:r>
              <a:t>1. KNN (k=7) - Baseline</a:t>
            </a:r>
          </a:p>
          <a:p>
            <a:pPr>
              <a:defRPr sz="1000">
                <a:solidFill>
                  <a:srgbClr val="94A3B8"/>
                </a:solidFill>
              </a:defRPr>
            </a:pPr>
            <a:r>
              <a:t>CV: 97,40% | Recall: 0,00% (Gagal Deteksi)</a:t>
            </a:r>
          </a:p>
          <a:p>
            <a:pPr>
              <a:spcBef>
                <a:spcPts val="600"/>
              </a:spcBef>
              <a:defRPr sz="1100" b="1">
                <a:solidFill>
                  <a:srgbClr val="F1F5F9"/>
                </a:solidFill>
              </a:defRPr>
            </a:pPr>
            <a:r>
              <a:t>2. Random Forest (100 Trees)</a:t>
            </a:r>
          </a:p>
          <a:p>
            <a:pPr>
              <a:defRPr sz="1000">
                <a:solidFill>
                  <a:srgbClr val="94A3B8"/>
                </a:solidFill>
              </a:defRPr>
            </a:pPr>
            <a:r>
              <a:t>CV: 97,40% | Recall: 0,00% (Bias Mayoritas)</a:t>
            </a:r>
          </a:p>
          <a:p>
            <a:pPr>
              <a:spcBef>
                <a:spcPts val="600"/>
              </a:spcBef>
              <a:defRPr sz="1100" b="1">
                <a:solidFill>
                  <a:srgbClr val="38BDF8"/>
                </a:solidFill>
              </a:defRPr>
            </a:pPr>
            <a:r>
              <a:t>3. Decision Tree (Single Tree)</a:t>
            </a:r>
          </a:p>
          <a:p>
            <a:pPr>
              <a:defRPr sz="1000">
                <a:solidFill>
                  <a:srgbClr val="94A3B8"/>
                </a:solidFill>
              </a:defRPr>
            </a:pPr>
            <a:r>
              <a:t>CV: 99,48% (±0,008) | Recall: 100% (Kandidat Kuat)</a:t>
            </a:r>
          </a:p>
          <a:p>
            <a:pPr>
              <a:spcBef>
                <a:spcPts val="600"/>
              </a:spcBef>
              <a:defRPr sz="1100" b="1">
                <a:solidFill>
                  <a:srgbClr val="10B981"/>
                </a:solidFill>
              </a:defRPr>
            </a:pPr>
            <a:r>
              <a:t>4. XGBoost (Gradient Boosting) 🏆</a:t>
            </a:r>
          </a:p>
          <a:p>
            <a:pPr>
              <a:defRPr sz="1000">
                <a:solidFill>
                  <a:srgbClr val="94A3B8"/>
                </a:solidFill>
              </a:defRPr>
            </a:pPr>
            <a:r>
              <a:t>CV: 99,58% (±0,0039) | Recall: 100% (PEMENANG MUTLAK)</a:t>
            </a:r>
          </a:p>
          <a:p>
            <a:pPr>
              <a:spcBef>
                <a:spcPts val="1200"/>
              </a:spcBef>
              <a:defRPr sz="1150" b="1">
                <a:solidFill>
                  <a:srgbClr val="F1F5F9"/>
                </a:solidFill>
              </a:defRPr>
            </a:pPr>
            <a:r>
              <a:t>💡 Mengapa XGBoost Menang?</a:t>
            </a:r>
          </a:p>
          <a:p>
            <a:pPr>
              <a:defRPr sz="950">
                <a:solidFill>
                  <a:srgbClr val="94A3B8"/>
                </a:solidFill>
              </a:defRPr>
            </a:pPr>
            <a:r>
              <a:t>XGBoost membangun pohon secara sekuensial yang secara khusus memberi bobot lebih pada sampel yang salah diklasifikasikan, sehingga sukses menangkap sinyal minoritas depresi.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09 • EVALUASI AKHIR</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Model Terpilih: XGBoost Meraih Sensitivitas Sempurna (100% Recall)</a:t>
            </a:r>
          </a:p>
        </p:txBody>
      </p:sp>
      <p:sp>
        <p:nvSpPr>
          <p:cNvPr id="5" name="Rounded Rectangle 4"/>
          <p:cNvSpPr/>
          <p:nvPr/>
        </p:nvSpPr>
        <p:spPr>
          <a:xfrm>
            <a:off x="731520" y="1554480"/>
            <a:ext cx="6035040" cy="466344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_cm_compare.png"/>
          <p:cNvPicPr>
            <a:picLocks noChangeAspect="1"/>
          </p:cNvPicPr>
          <p:nvPr/>
        </p:nvPicPr>
        <p:blipFill>
          <a:blip r:embed="rId3"/>
          <a:stretch>
            <a:fillRect/>
          </a:stretch>
        </p:blipFill>
        <p:spPr>
          <a:xfrm>
            <a:off x="868680" y="2011680"/>
            <a:ext cx="5760720" cy="2542402"/>
          </a:xfrm>
          <a:prstGeom prst="rect">
            <a:avLst/>
          </a:prstGeom>
        </p:spPr>
      </p:pic>
      <p:sp>
        <p:nvSpPr>
          <p:cNvPr id="7" name="Rounded Rectangle 6"/>
          <p:cNvSpPr/>
          <p:nvPr/>
        </p:nvSpPr>
        <p:spPr>
          <a:xfrm>
            <a:off x="7040880" y="1554480"/>
            <a:ext cx="4389120" cy="466344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0" y="1828800"/>
            <a:ext cx="3840480" cy="4114800"/>
          </a:xfrm>
          <a:prstGeom prst="rect">
            <a:avLst/>
          </a:prstGeom>
          <a:noFill/>
        </p:spPr>
        <p:txBody>
          <a:bodyPr wrap="square">
            <a:spAutoFit/>
          </a:bodyPr>
          <a:lstStyle/>
          <a:p>
            <a:pPr>
              <a:defRPr sz="1600" b="1">
                <a:solidFill>
                  <a:srgbClr val="10B981"/>
                </a:solidFill>
              </a:defRPr>
            </a:pPr>
            <a:r>
              <a:t>Hasil Evaluasi Data Uji</a:t>
            </a:r>
          </a:p>
          <a:p>
            <a:pPr>
              <a:spcBef>
                <a:spcPts val="800"/>
              </a:spcBef>
              <a:defRPr sz="4400" b="1">
                <a:solidFill>
                  <a:srgbClr val="10B981"/>
                </a:solidFill>
              </a:defRPr>
            </a:pPr>
            <a:r>
              <a:t>100%</a:t>
            </a:r>
          </a:p>
          <a:p>
            <a:pPr>
              <a:spcAft>
                <a:spcPts val="1400"/>
              </a:spcAft>
              <a:defRPr sz="1100" b="1">
                <a:solidFill>
                  <a:srgbClr val="F1F5F9"/>
                </a:solidFill>
              </a:defRPr>
            </a:pPr>
            <a:r>
              <a:t>Sensitivitas / Recall Data Uji (6/6 Siswa Depresi Berhasil Ditemukan)</a:t>
            </a:r>
          </a:p>
          <a:p>
            <a:pPr>
              <a:spcBef>
                <a:spcPts val="600"/>
              </a:spcBef>
              <a:defRPr sz="1100" b="1">
                <a:solidFill>
                  <a:srgbClr val="38BDF8"/>
                </a:solidFill>
              </a:defRPr>
            </a:pPr>
            <a:r>
              <a:t>🛡️ Nol Kasus Negatif Palsu (FN = 0):</a:t>
            </a:r>
          </a:p>
          <a:p>
            <a:pPr>
              <a:defRPr sz="1000">
                <a:solidFill>
                  <a:srgbClr val="94A3B8"/>
                </a:solidFill>
              </a:defRPr>
            </a:pPr>
            <a:r>
              <a:t>Tidak ada satu pun remaja depresi yang terlewatkan tanpa bantuan.</a:t>
            </a:r>
          </a:p>
          <a:p>
            <a:pPr>
              <a:spcBef>
                <a:spcPts val="600"/>
              </a:spcBef>
              <a:defRPr sz="1100" b="1">
                <a:solidFill>
                  <a:srgbClr val="38BDF8"/>
                </a:solidFill>
              </a:defRPr>
            </a:pPr>
            <a:r>
              <a:t>🎯 Akurasi &amp; Presisi 100%:</a:t>
            </a:r>
          </a:p>
          <a:p>
            <a:pPr>
              <a:defRPr sz="1000">
                <a:solidFill>
                  <a:srgbClr val="94A3B8"/>
                </a:solidFill>
              </a:defRPr>
            </a:pPr>
            <a:r>
              <a:t>234 remaja sehat diprediksi tepat, 6 remaja depresi terdeteksi akurat.</a:t>
            </a:r>
          </a:p>
          <a:p>
            <a:pPr>
              <a:spcBef>
                <a:spcPts val="600"/>
              </a:spcBef>
              <a:defRPr sz="1100" b="1">
                <a:solidFill>
                  <a:srgbClr val="38BDF8"/>
                </a:solidFill>
              </a:defRPr>
            </a:pPr>
            <a:r>
              <a:t>📊 Validasi Silang Kokoh (0,9958):</a:t>
            </a:r>
          </a:p>
          <a:p>
            <a:pPr>
              <a:defRPr sz="1000">
                <a:solidFill>
                  <a:srgbClr val="94A3B8"/>
                </a:solidFill>
              </a:defRPr>
            </a:pPr>
            <a:r>
              <a:t>Bukan sekadar keberuntungan split, melainkan terbukti konsisten di 5 fold.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10 • TEMUAN KUNCI</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Feature Importance: Kurang Tidur &amp; Medsos Adalah Prediktor Terbesar</a:t>
            </a:r>
          </a:p>
        </p:txBody>
      </p:sp>
      <p:sp>
        <p:nvSpPr>
          <p:cNvPr id="5" name="Rounded Rectangle 4"/>
          <p:cNvSpPr/>
          <p:nvPr/>
        </p:nvSpPr>
        <p:spPr>
          <a:xfrm>
            <a:off x="731520" y="1554480"/>
            <a:ext cx="530352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_importance.png"/>
          <p:cNvPicPr>
            <a:picLocks noChangeAspect="1"/>
          </p:cNvPicPr>
          <p:nvPr/>
        </p:nvPicPr>
        <p:blipFill>
          <a:blip r:embed="rId3"/>
          <a:stretch>
            <a:fillRect/>
          </a:stretch>
        </p:blipFill>
        <p:spPr>
          <a:xfrm>
            <a:off x="868680" y="1737360"/>
            <a:ext cx="5029200" cy="3019732"/>
          </a:xfrm>
          <a:prstGeom prst="rect">
            <a:avLst/>
          </a:prstGeom>
        </p:spPr>
      </p:pic>
      <p:sp>
        <p:nvSpPr>
          <p:cNvPr id="7" name="Rounded Rectangle 6"/>
          <p:cNvSpPr/>
          <p:nvPr/>
        </p:nvSpPr>
        <p:spPr>
          <a:xfrm>
            <a:off x="6309360" y="1554480"/>
            <a:ext cx="5120640" cy="4663440"/>
          </a:xfrm>
          <a:prstGeom prst="roundRect">
            <a:avLst/>
          </a:prstGeom>
          <a:solidFill>
            <a:srgbClr val="141A29"/>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828800"/>
            <a:ext cx="4663440" cy="4114800"/>
          </a:xfrm>
          <a:prstGeom prst="rect">
            <a:avLst/>
          </a:prstGeom>
          <a:noFill/>
        </p:spPr>
        <p:txBody>
          <a:bodyPr wrap="square">
            <a:spAutoFit/>
          </a:bodyPr>
          <a:lstStyle/>
          <a:p>
            <a:pPr>
              <a:defRPr sz="1600" b="1">
                <a:solidFill>
                  <a:srgbClr val="A855F7"/>
                </a:solidFill>
              </a:defRPr>
            </a:pPr>
            <a:r>
              <a:t>Interpretasi Perilaku Remaja</a:t>
            </a:r>
          </a:p>
          <a:p>
            <a:pPr>
              <a:spcBef>
                <a:spcPts val="800"/>
              </a:spcBef>
              <a:defRPr sz="1100" b="1">
                <a:solidFill>
                  <a:srgbClr val="F1F5F9"/>
                </a:solidFill>
              </a:defRPr>
            </a:pPr>
            <a:r>
              <a:t>🥇 1. Jam Tidur (18,71% Kontribusi)</a:t>
            </a:r>
          </a:p>
          <a:p>
            <a:pPr>
              <a:defRPr sz="950">
                <a:solidFill>
                  <a:srgbClr val="94A3B8"/>
                </a:solidFill>
              </a:defRPr>
            </a:pPr>
            <a:r>
              <a:t>Merupakan prediktor tunggal paling dominan. Gangguan tidur kronis adalah sinyal neurobiologis pertama sebelum depresi bermanifestasi penuh.</a:t>
            </a:r>
          </a:p>
          <a:p>
            <a:pPr>
              <a:spcBef>
                <a:spcPts val="800"/>
              </a:spcBef>
              <a:defRPr sz="1100" b="1">
                <a:solidFill>
                  <a:srgbClr val="F1F5F9"/>
                </a:solidFill>
              </a:defRPr>
            </a:pPr>
            <a:r>
              <a:t>🥈 2. Jam Media Sosial (17,72% Kontribusi)</a:t>
            </a:r>
          </a:p>
          <a:p>
            <a:pPr>
              <a:defRPr sz="950">
                <a:solidFill>
                  <a:srgbClr val="94A3B8"/>
                </a:solidFill>
              </a:defRPr>
            </a:pPr>
            <a:r>
              <a:t>Paparan layar di atas 5 jam memicu perbandingan sosial toksik dan menggeser ritme sirkadian tidur remaja.</a:t>
            </a:r>
          </a:p>
          <a:p>
            <a:pPr>
              <a:spcBef>
                <a:spcPts val="800"/>
              </a:spcBef>
              <a:defRPr sz="1100" b="1">
                <a:solidFill>
                  <a:srgbClr val="F1F5F9"/>
                </a:solidFill>
              </a:defRPr>
            </a:pPr>
            <a:r>
              <a:t>🥉 3. Kecemasan (13,78%) &amp; Stres (13,06%)</a:t>
            </a:r>
          </a:p>
          <a:p>
            <a:pPr>
              <a:defRPr sz="950">
                <a:solidFill>
                  <a:srgbClr val="94A3B8"/>
                </a:solidFill>
              </a:defRPr>
            </a:pPr>
            <a:r>
              <a:t>Tingkat kecemasan dan stres tinggi menjadi pendorong internal yang mempercepat eskalasi risiko depresi.</a:t>
            </a:r>
          </a:p>
          <a:p>
            <a:pPr>
              <a:spcBef>
                <a:spcPts val="800"/>
              </a:spcBef>
              <a:defRPr sz="1100" b="1">
                <a:solidFill>
                  <a:srgbClr val="F1F5F9"/>
                </a:solidFill>
              </a:defRPr>
            </a:pPr>
            <a:r>
              <a:t>💡 Rekomendasi Aksi:</a:t>
            </a:r>
          </a:p>
          <a:p>
            <a:pPr>
              <a:defRPr sz="950">
                <a:solidFill>
                  <a:srgbClr val="94A3B8"/>
                </a:solidFill>
              </a:defRPr>
            </a:pPr>
            <a:r>
              <a:t>Intervensi sekolah paling efektif bukan memutus medsos secara total, melainkan menetapkan aturan jam istirahat malam yang teratur.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11 • KESIMPULAN &amp; EVALUASI</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Rekomendasi Praktis, Etika Klinis, dan Keterbatasan Model</a:t>
            </a:r>
          </a:p>
        </p:txBody>
      </p:sp>
      <p:sp>
        <p:nvSpPr>
          <p:cNvPr id="5" name="Rounded Rectangle 4"/>
          <p:cNvSpPr/>
          <p:nvPr/>
        </p:nvSpPr>
        <p:spPr>
          <a:xfrm>
            <a:off x="731520" y="1554480"/>
            <a:ext cx="5242255" cy="228600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4876495" cy="1600200"/>
          </a:xfrm>
          <a:prstGeom prst="rect">
            <a:avLst/>
          </a:prstGeom>
          <a:noFill/>
        </p:spPr>
        <p:txBody>
          <a:bodyPr wrap="square">
            <a:spAutoFit/>
          </a:bodyPr>
          <a:lstStyle/>
          <a:p>
            <a:pPr>
              <a:defRPr sz="1300" b="1">
                <a:solidFill>
                  <a:srgbClr val="10B981"/>
                </a:solidFill>
              </a:defRPr>
            </a:pPr>
            <a:r>
              <a:t>🎯 Jawaban Rumusan Masalah</a:t>
            </a:r>
          </a:p>
          <a:p>
            <a:pPr>
              <a:spcBef>
                <a:spcPts val="300"/>
              </a:spcBef>
              <a:defRPr sz="950">
                <a:solidFill>
                  <a:srgbClr val="94A3B8"/>
                </a:solidFill>
              </a:defRPr>
            </a:pPr>
            <a:r>
              <a:t>• Risiko depresi remaja terbukti dapat diprediksi secara akurat dari kebiasaan gaya hidup digital.</a:t>
            </a:r>
          </a:p>
          <a:p>
            <a:pPr>
              <a:spcBef>
                <a:spcPts val="300"/>
              </a:spcBef>
              <a:defRPr sz="950">
                <a:solidFill>
                  <a:srgbClr val="F1F5F9"/>
                </a:solidFill>
              </a:defRPr>
            </a:pPr>
            <a:r>
              <a:t>• XGBoost mencapai akurasi CV 99,58% dan Recall data uji 100% tanpa adanya False Negative.</a:t>
            </a:r>
          </a:p>
        </p:txBody>
      </p:sp>
      <p:sp>
        <p:nvSpPr>
          <p:cNvPr id="7" name="Rounded Rectangle 6"/>
          <p:cNvSpPr/>
          <p:nvPr/>
        </p:nvSpPr>
        <p:spPr>
          <a:xfrm>
            <a:off x="914400" y="3337560"/>
            <a:ext cx="4876495" cy="36576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10B981"/>
                </a:solidFill>
              </a:defRPr>
            </a:pPr>
            <a:r>
              <a:t>Status: Hipotesis Terbukti Sempurna</a:t>
            </a:r>
          </a:p>
        </p:txBody>
      </p:sp>
      <p:sp>
        <p:nvSpPr>
          <p:cNvPr id="8" name="Rounded Rectangle 7"/>
          <p:cNvSpPr/>
          <p:nvPr/>
        </p:nvSpPr>
        <p:spPr>
          <a:xfrm>
            <a:off x="6217920" y="1554480"/>
            <a:ext cx="5242255" cy="228600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91639"/>
            <a:ext cx="4876495" cy="1600200"/>
          </a:xfrm>
          <a:prstGeom prst="rect">
            <a:avLst/>
          </a:prstGeom>
          <a:noFill/>
        </p:spPr>
        <p:txBody>
          <a:bodyPr wrap="square">
            <a:spAutoFit/>
          </a:bodyPr>
          <a:lstStyle/>
          <a:p>
            <a:pPr>
              <a:defRPr sz="1300" b="1">
                <a:solidFill>
                  <a:srgbClr val="38BDF8"/>
                </a:solidFill>
              </a:defRPr>
            </a:pPr>
            <a:r>
              <a:t>💡 Rekomendasi Nyata (Actionable)</a:t>
            </a:r>
          </a:p>
          <a:p>
            <a:pPr>
              <a:spcBef>
                <a:spcPts val="300"/>
              </a:spcBef>
              <a:defRPr sz="950">
                <a:solidFill>
                  <a:srgbClr val="F1F5F9"/>
                </a:solidFill>
              </a:defRPr>
            </a:pPr>
            <a:r>
              <a:t>• Penerapan kebijakan 'Digital Curfew' (matikan layar 1 jam sebelum tidur malam).</a:t>
            </a:r>
          </a:p>
          <a:p>
            <a:pPr>
              <a:spcBef>
                <a:spcPts val="300"/>
              </a:spcBef>
              <a:defRPr sz="950">
                <a:solidFill>
                  <a:srgbClr val="94A3B8"/>
                </a:solidFill>
              </a:defRPr>
            </a:pPr>
            <a:r>
              <a:t>• Edukasi batas aman bermedsos maksimal 2-3 jam/hari untuk mencegah pergeseran jam tidur.</a:t>
            </a:r>
          </a:p>
        </p:txBody>
      </p:sp>
      <p:sp>
        <p:nvSpPr>
          <p:cNvPr id="10" name="Rounded Rectangle 9"/>
          <p:cNvSpPr/>
          <p:nvPr/>
        </p:nvSpPr>
        <p:spPr>
          <a:xfrm>
            <a:off x="6400800" y="3337560"/>
            <a:ext cx="4876495" cy="3657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Rekomendasi: Intervensi Sekolah &amp; Rumah</a:t>
            </a:r>
          </a:p>
        </p:txBody>
      </p:sp>
      <p:sp>
        <p:nvSpPr>
          <p:cNvPr id="11" name="Rounded Rectangle 10"/>
          <p:cNvSpPr/>
          <p:nvPr/>
        </p:nvSpPr>
        <p:spPr>
          <a:xfrm>
            <a:off x="731520" y="3931920"/>
            <a:ext cx="5242255" cy="2286000"/>
          </a:xfrm>
          <a:prstGeom prst="roundRect">
            <a:avLst/>
          </a:prstGeom>
          <a:solidFill>
            <a:srgbClr val="141A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069080"/>
            <a:ext cx="4876495" cy="1600200"/>
          </a:xfrm>
          <a:prstGeom prst="rect">
            <a:avLst/>
          </a:prstGeom>
          <a:noFill/>
        </p:spPr>
        <p:txBody>
          <a:bodyPr wrap="square">
            <a:spAutoFit/>
          </a:bodyPr>
          <a:lstStyle/>
          <a:p>
            <a:pPr>
              <a:defRPr sz="1300" b="1">
                <a:solidFill>
                  <a:srgbClr val="F59E0B"/>
                </a:solidFill>
              </a:defRPr>
            </a:pPr>
            <a:r>
              <a:t>⚠️ Keterbatasan Dataset Survei</a:t>
            </a:r>
          </a:p>
          <a:p>
            <a:pPr>
              <a:spcBef>
                <a:spcPts val="300"/>
              </a:spcBef>
              <a:defRPr sz="950">
                <a:solidFill>
                  <a:srgbClr val="94A3B8"/>
                </a:solidFill>
              </a:defRPr>
            </a:pPr>
            <a:r>
              <a:t>• Dataset berukuran 1.200 baris dengan hanya 31 kasus positif depresi (sangat terbatas).</a:t>
            </a:r>
          </a:p>
          <a:p>
            <a:pPr>
              <a:spcBef>
                <a:spcPts val="300"/>
              </a:spcBef>
              <a:defRPr sz="950">
                <a:solidFill>
                  <a:srgbClr val="94A3B8"/>
                </a:solidFill>
              </a:defRPr>
            </a:pPr>
            <a:r>
              <a:t>• Pola data yang rapi mengindikasikan kemungkinan data survei sintetis/semi-sintetis.</a:t>
            </a:r>
          </a:p>
        </p:txBody>
      </p:sp>
      <p:sp>
        <p:nvSpPr>
          <p:cNvPr id="13" name="Rounded Rectangle 12"/>
          <p:cNvSpPr/>
          <p:nvPr/>
        </p:nvSpPr>
        <p:spPr>
          <a:xfrm>
            <a:off x="914400" y="5715000"/>
            <a:ext cx="4876495"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59E0B"/>
                </a:solidFill>
              </a:defRPr>
            </a:pPr>
            <a:r>
              <a:t>Catatan: Perlu Uji Lapangan Skala Besar</a:t>
            </a:r>
          </a:p>
        </p:txBody>
      </p:sp>
      <p:sp>
        <p:nvSpPr>
          <p:cNvPr id="14" name="Rounded Rectangle 13"/>
          <p:cNvSpPr/>
          <p:nvPr/>
        </p:nvSpPr>
        <p:spPr>
          <a:xfrm>
            <a:off x="6217920" y="3931920"/>
            <a:ext cx="5242255" cy="2286000"/>
          </a:xfrm>
          <a:prstGeom prst="roundRect">
            <a:avLst/>
          </a:prstGeom>
          <a:solidFill>
            <a:srgbClr val="141A29"/>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069080"/>
            <a:ext cx="4876495" cy="1600200"/>
          </a:xfrm>
          <a:prstGeom prst="rect">
            <a:avLst/>
          </a:prstGeom>
          <a:noFill/>
        </p:spPr>
        <p:txBody>
          <a:bodyPr wrap="square">
            <a:spAutoFit/>
          </a:bodyPr>
          <a:lstStyle/>
          <a:p>
            <a:pPr>
              <a:defRPr sz="1300" b="1">
                <a:solidFill>
                  <a:srgbClr val="F43F5E"/>
                </a:solidFill>
              </a:defRPr>
            </a:pPr>
            <a:r>
              <a:t>🩺 Target Leakage &amp; Batasan Etis</a:t>
            </a:r>
          </a:p>
          <a:p>
            <a:pPr>
              <a:spcBef>
                <a:spcPts val="300"/>
              </a:spcBef>
              <a:defRPr sz="950">
                <a:solidFill>
                  <a:srgbClr val="94A3B8"/>
                </a:solidFill>
              </a:defRPr>
            </a:pPr>
            <a:r>
              <a:t>• Fitur 'stress_level' &amp; 'anxiety_level' beririsan langsung dengan gejala klinis depresi.</a:t>
            </a:r>
          </a:p>
          <a:p>
            <a:pPr>
              <a:spcBef>
                <a:spcPts val="300"/>
              </a:spcBef>
              <a:defRPr sz="950">
                <a:solidFill>
                  <a:srgbClr val="94A3B8"/>
                </a:solidFill>
              </a:defRPr>
            </a:pPr>
            <a:r>
              <a:t>• Model ini adalah alat penapisan awal (screening), bukan penentu diagnosis psikiater resmi.</a:t>
            </a:r>
          </a:p>
        </p:txBody>
      </p:sp>
      <p:sp>
        <p:nvSpPr>
          <p:cNvPr id="16" name="Rounded Rectangle 15"/>
          <p:cNvSpPr/>
          <p:nvPr/>
        </p:nvSpPr>
        <p:spPr>
          <a:xfrm>
            <a:off x="6400800" y="5715000"/>
            <a:ext cx="4876495" cy="365760"/>
          </a:xfrm>
          <a:prstGeom prst="roundRect">
            <a:avLst/>
          </a:prstGeom>
          <a:solidFill>
            <a:srgbClr val="0F17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43F5E"/>
                </a:solidFill>
              </a:defRPr>
            </a:pPr>
            <a:r>
              <a:t>Etika: Pendamping, Bukan Pengganti Dokter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84048"/>
            <a:ext cx="292608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12 • TIM PENELITI</a:t>
            </a:r>
          </a:p>
        </p:txBody>
      </p:sp>
      <p:sp>
        <p:nvSpPr>
          <p:cNvPr id="4" name="TextBox 3"/>
          <p:cNvSpPr txBox="1"/>
          <p:nvPr/>
        </p:nvSpPr>
        <p:spPr>
          <a:xfrm>
            <a:off x="731520" y="731520"/>
            <a:ext cx="10698480" cy="594360"/>
          </a:xfrm>
          <a:prstGeom prst="rect">
            <a:avLst/>
          </a:prstGeom>
          <a:noFill/>
        </p:spPr>
        <p:txBody>
          <a:bodyPr wrap="square">
            <a:spAutoFit/>
          </a:bodyPr>
          <a:lstStyle/>
          <a:p>
            <a:pPr>
              <a:defRPr sz="2200" b="1">
                <a:solidFill>
                  <a:srgbClr val="F1F5F9"/>
                </a:solidFill>
              </a:defRPr>
            </a:pPr>
            <a:r>
              <a:t>Anggota Kelompok 7 &amp; Pembagian Tugas Proyek Mini</a:t>
            </a:r>
          </a:p>
        </p:txBody>
      </p:sp>
      <p:sp>
        <p:nvSpPr>
          <p:cNvPr id="5" name="Rounded Rectangle 4"/>
          <p:cNvSpPr/>
          <p:nvPr/>
        </p:nvSpPr>
        <p:spPr>
          <a:xfrm>
            <a:off x="731520" y="1554480"/>
            <a:ext cx="2560320" cy="4663440"/>
          </a:xfrm>
          <a:prstGeom prst="roundRect">
            <a:avLst/>
          </a:prstGeom>
          <a:solidFill>
            <a:srgbClr val="141A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37360"/>
            <a:ext cx="2286000" cy="3474720"/>
          </a:xfrm>
          <a:prstGeom prst="rect">
            <a:avLst/>
          </a:prstGeom>
          <a:noFill/>
        </p:spPr>
        <p:txBody>
          <a:bodyPr wrap="square">
            <a:spAutoFit/>
          </a:bodyPr>
          <a:lstStyle/>
          <a:p>
            <a:pPr>
              <a:defRPr sz="1300" b="1">
                <a:solidFill>
                  <a:srgbClr val="38BDF8"/>
                </a:solidFill>
              </a:defRPr>
            </a:pPr>
            <a:r>
              <a:t>Muhamad Sultani Qalbi N.</a:t>
            </a:r>
          </a:p>
          <a:p>
            <a:pPr>
              <a:defRPr sz="1000">
                <a:solidFill>
                  <a:srgbClr val="94A3B8"/>
                </a:solidFill>
              </a:defRPr>
            </a:pPr>
            <a:r>
              <a:t>110123xxxx</a:t>
            </a:r>
          </a:p>
          <a:p>
            <a:pPr>
              <a:spcBef>
                <a:spcPts val="600"/>
              </a:spcBef>
              <a:spcAft>
                <a:spcPts val="1000"/>
              </a:spcAft>
              <a:defRPr sz="1050" b="1">
                <a:solidFill>
                  <a:srgbClr val="F1F5F9"/>
                </a:solidFill>
              </a:defRPr>
            </a:pPr>
            <a:r>
              <a:t>Lead Researcher &amp; Modeling</a:t>
            </a:r>
          </a:p>
          <a:p>
            <a:pPr>
              <a:spcAft>
                <a:spcPts val="300"/>
              </a:spcAft>
              <a:defRPr sz="950">
                <a:solidFill>
                  <a:srgbClr val="94A3B8"/>
                </a:solidFill>
              </a:defRPr>
            </a:pPr>
            <a:r>
              <a:t>• Formulasi Masalah &amp; Metrik</a:t>
            </a:r>
          </a:p>
          <a:p>
            <a:pPr>
              <a:spcAft>
                <a:spcPts val="300"/>
              </a:spcAft>
              <a:defRPr sz="950">
                <a:solidFill>
                  <a:srgbClr val="94A3B8"/>
                </a:solidFill>
              </a:defRPr>
            </a:pPr>
            <a:r>
              <a:t>• Pipeline Split &amp; Scaling Anti-Bocor</a:t>
            </a:r>
          </a:p>
          <a:p>
            <a:pPr>
              <a:spcAft>
                <a:spcPts val="300"/>
              </a:spcAft>
              <a:defRPr sz="950">
                <a:solidFill>
                  <a:srgbClr val="94A3B8"/>
                </a:solidFill>
              </a:defRPr>
            </a:pPr>
            <a:r>
              <a:t>• Pelatihan &amp; Tuning XGBoost</a:t>
            </a:r>
          </a:p>
          <a:p>
            <a:pPr>
              <a:spcAft>
                <a:spcPts val="300"/>
              </a:spcAft>
              <a:defRPr sz="950">
                <a:solidFill>
                  <a:srgbClr val="94A3B8"/>
                </a:solidFill>
              </a:defRPr>
            </a:pPr>
            <a:r>
              <a:t>• Dokumentasi Repositori Git</a:t>
            </a:r>
          </a:p>
        </p:txBody>
      </p:sp>
      <p:sp>
        <p:nvSpPr>
          <p:cNvPr id="7" name="Rounded Rectangle 6"/>
          <p:cNvSpPr/>
          <p:nvPr/>
        </p:nvSpPr>
        <p:spPr>
          <a:xfrm>
            <a:off x="868680" y="5394960"/>
            <a:ext cx="2286000" cy="5029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38BDF8"/>
                </a:solidFill>
              </a:defRPr>
            </a:pPr>
            <a:r>
              <a:t>Lead &amp; Model Engineer</a:t>
            </a:r>
          </a:p>
        </p:txBody>
      </p:sp>
      <p:sp>
        <p:nvSpPr>
          <p:cNvPr id="8" name="Rounded Rectangle 7"/>
          <p:cNvSpPr/>
          <p:nvPr/>
        </p:nvSpPr>
        <p:spPr>
          <a:xfrm>
            <a:off x="3474720" y="1554480"/>
            <a:ext cx="2560320" cy="4663440"/>
          </a:xfrm>
          <a:prstGeom prst="roundRect">
            <a:avLst/>
          </a:prstGeom>
          <a:solidFill>
            <a:srgbClr val="141A29"/>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79" y="1737360"/>
            <a:ext cx="2286000" cy="3474720"/>
          </a:xfrm>
          <a:prstGeom prst="rect">
            <a:avLst/>
          </a:prstGeom>
          <a:noFill/>
        </p:spPr>
        <p:txBody>
          <a:bodyPr wrap="square">
            <a:spAutoFit/>
          </a:bodyPr>
          <a:lstStyle/>
          <a:p>
            <a:pPr>
              <a:defRPr sz="1300" b="1">
                <a:solidFill>
                  <a:srgbClr val="F1F5F9"/>
                </a:solidFill>
              </a:defRPr>
            </a:pPr>
            <a:r>
              <a:t>Anggota Kelompok 2</a:t>
            </a:r>
          </a:p>
          <a:p>
            <a:pPr>
              <a:defRPr sz="1000">
                <a:solidFill>
                  <a:srgbClr val="94A3B8"/>
                </a:solidFill>
              </a:defRPr>
            </a:pPr>
            <a:r>
              <a:t>110123xxxx</a:t>
            </a:r>
          </a:p>
          <a:p>
            <a:pPr>
              <a:spcBef>
                <a:spcPts val="600"/>
              </a:spcBef>
              <a:spcAft>
                <a:spcPts val="1000"/>
              </a:spcAft>
              <a:defRPr sz="1050" b="1">
                <a:solidFill>
                  <a:srgbClr val="F1F5F9"/>
                </a:solidFill>
              </a:defRPr>
            </a:pPr>
            <a:r>
              <a:t>EDA &amp; Visualisasi Data</a:t>
            </a:r>
          </a:p>
          <a:p>
            <a:pPr>
              <a:spcAft>
                <a:spcPts val="300"/>
              </a:spcAft>
              <a:defRPr sz="950">
                <a:solidFill>
                  <a:srgbClr val="94A3B8"/>
                </a:solidFill>
              </a:defRPr>
            </a:pPr>
            <a:r>
              <a:t>• Analisis Distribusi Target &amp; Korelasi</a:t>
            </a:r>
          </a:p>
          <a:p>
            <a:pPr>
              <a:spcAft>
                <a:spcPts val="300"/>
              </a:spcAft>
              <a:defRPr sz="950">
                <a:solidFill>
                  <a:srgbClr val="94A3B8"/>
                </a:solidFill>
              </a:defRPr>
            </a:pPr>
            <a:r>
              <a:t>• Visualisasi KDE Sebaran Jam Tidur</a:t>
            </a:r>
          </a:p>
          <a:p>
            <a:pPr>
              <a:spcAft>
                <a:spcPts val="300"/>
              </a:spcAft>
              <a:defRPr sz="950">
                <a:solidFill>
                  <a:srgbClr val="94A3B8"/>
                </a:solidFill>
              </a:defRPr>
            </a:pPr>
            <a:r>
              <a:t>• Identifikasi Accuracy Paradox</a:t>
            </a:r>
          </a:p>
          <a:p>
            <a:pPr>
              <a:spcAft>
                <a:spcPts val="300"/>
              </a:spcAft>
              <a:defRPr sz="950">
                <a:solidFill>
                  <a:srgbClr val="94A3B8"/>
                </a:solidFill>
              </a:defRPr>
            </a:pPr>
            <a:r>
              <a:t>• Desain Visual Slide Presentasi</a:t>
            </a:r>
          </a:p>
        </p:txBody>
      </p:sp>
      <p:sp>
        <p:nvSpPr>
          <p:cNvPr id="10" name="Rounded Rectangle 9"/>
          <p:cNvSpPr/>
          <p:nvPr/>
        </p:nvSpPr>
        <p:spPr>
          <a:xfrm>
            <a:off x="3611879" y="5394960"/>
            <a:ext cx="2286000" cy="502920"/>
          </a:xfrm>
          <a:prstGeom prst="roundRect">
            <a:avLst/>
          </a:prstGeom>
          <a:solidFill>
            <a:srgbClr val="0F172A"/>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1F5F9"/>
                </a:solidFill>
              </a:defRPr>
            </a:pPr>
            <a:r>
              <a:t>Data Analyst &amp; EDA Lead</a:t>
            </a:r>
          </a:p>
        </p:txBody>
      </p:sp>
      <p:sp>
        <p:nvSpPr>
          <p:cNvPr id="11" name="Rounded Rectangle 10"/>
          <p:cNvSpPr/>
          <p:nvPr/>
        </p:nvSpPr>
        <p:spPr>
          <a:xfrm>
            <a:off x="6217920" y="1554480"/>
            <a:ext cx="2560320" cy="4663440"/>
          </a:xfrm>
          <a:prstGeom prst="roundRect">
            <a:avLst/>
          </a:prstGeom>
          <a:solidFill>
            <a:srgbClr val="141A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1737360"/>
            <a:ext cx="2286000" cy="3474720"/>
          </a:xfrm>
          <a:prstGeom prst="rect">
            <a:avLst/>
          </a:prstGeom>
          <a:noFill/>
        </p:spPr>
        <p:txBody>
          <a:bodyPr wrap="square">
            <a:spAutoFit/>
          </a:bodyPr>
          <a:lstStyle/>
          <a:p>
            <a:pPr>
              <a:defRPr sz="1300" b="1">
                <a:solidFill>
                  <a:srgbClr val="F59E0B"/>
                </a:solidFill>
              </a:defRPr>
            </a:pPr>
            <a:r>
              <a:t>Anggota Kelompok 3</a:t>
            </a:r>
          </a:p>
          <a:p>
            <a:pPr>
              <a:defRPr sz="1000">
                <a:solidFill>
                  <a:srgbClr val="94A3B8"/>
                </a:solidFill>
              </a:defRPr>
            </a:pPr>
            <a:r>
              <a:t>110123xxxx</a:t>
            </a:r>
          </a:p>
          <a:p>
            <a:pPr>
              <a:spcBef>
                <a:spcPts val="600"/>
              </a:spcBef>
              <a:spcAft>
                <a:spcPts val="1000"/>
              </a:spcAft>
              <a:defRPr sz="1050" b="1">
                <a:solidFill>
                  <a:srgbClr val="F1F5F9"/>
                </a:solidFill>
              </a:defRPr>
            </a:pPr>
            <a:r>
              <a:t>Pembersihan Data &amp; Baseline</a:t>
            </a:r>
          </a:p>
          <a:p>
            <a:pPr>
              <a:spcAft>
                <a:spcPts val="300"/>
              </a:spcAft>
              <a:defRPr sz="950">
                <a:solidFill>
                  <a:srgbClr val="94A3B8"/>
                </a:solidFill>
              </a:defRPr>
            </a:pPr>
            <a:r>
              <a:t>• Pengujian Outlier dengan Metode IQR</a:t>
            </a:r>
          </a:p>
          <a:p>
            <a:pPr>
              <a:spcAft>
                <a:spcPts val="300"/>
              </a:spcAft>
              <a:defRPr sz="950">
                <a:solidFill>
                  <a:srgbClr val="94A3B8"/>
                </a:solidFill>
              </a:defRPr>
            </a:pPr>
            <a:r>
              <a:t>• Encoding Kategorik (Ordinal &amp; One-Hot)</a:t>
            </a:r>
          </a:p>
          <a:p>
            <a:pPr>
              <a:spcAft>
                <a:spcPts val="300"/>
              </a:spcAft>
              <a:defRPr sz="950">
                <a:solidFill>
                  <a:srgbClr val="94A3B8"/>
                </a:solidFill>
              </a:defRPr>
            </a:pPr>
            <a:r>
              <a:t>• Implementasi Model Standar KNN</a:t>
            </a:r>
          </a:p>
          <a:p>
            <a:pPr>
              <a:spcAft>
                <a:spcPts val="300"/>
              </a:spcAft>
              <a:defRPr sz="950">
                <a:solidFill>
                  <a:srgbClr val="94A3B8"/>
                </a:solidFill>
              </a:defRPr>
            </a:pPr>
            <a:r>
              <a:t>• Tuning Parameter k via GridSearchCV</a:t>
            </a:r>
          </a:p>
        </p:txBody>
      </p:sp>
      <p:sp>
        <p:nvSpPr>
          <p:cNvPr id="13" name="Rounded Rectangle 12"/>
          <p:cNvSpPr/>
          <p:nvPr/>
        </p:nvSpPr>
        <p:spPr>
          <a:xfrm>
            <a:off x="6355080" y="5394960"/>
            <a:ext cx="2286000" cy="50292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59E0B"/>
                </a:solidFill>
              </a:defRPr>
            </a:pPr>
            <a:r>
              <a:t>Data Preprocessing &amp; Baseline</a:t>
            </a:r>
          </a:p>
        </p:txBody>
      </p:sp>
      <p:sp>
        <p:nvSpPr>
          <p:cNvPr id="14" name="Rounded Rectangle 13"/>
          <p:cNvSpPr/>
          <p:nvPr/>
        </p:nvSpPr>
        <p:spPr>
          <a:xfrm>
            <a:off x="8961120" y="1554480"/>
            <a:ext cx="2560320" cy="4663440"/>
          </a:xfrm>
          <a:prstGeom prst="roundRect">
            <a:avLst/>
          </a:prstGeom>
          <a:solidFill>
            <a:srgbClr val="141A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98280" y="1737360"/>
            <a:ext cx="2286000" cy="3474720"/>
          </a:xfrm>
          <a:prstGeom prst="rect">
            <a:avLst/>
          </a:prstGeom>
          <a:noFill/>
        </p:spPr>
        <p:txBody>
          <a:bodyPr wrap="square">
            <a:spAutoFit/>
          </a:bodyPr>
          <a:lstStyle/>
          <a:p>
            <a:pPr>
              <a:defRPr sz="1300" b="1">
                <a:solidFill>
                  <a:srgbClr val="10B981"/>
                </a:solidFill>
              </a:defRPr>
            </a:pPr>
            <a:r>
              <a:t>Anggota Kelompok 4</a:t>
            </a:r>
          </a:p>
          <a:p>
            <a:pPr>
              <a:defRPr sz="1000">
                <a:solidFill>
                  <a:srgbClr val="94A3B8"/>
                </a:solidFill>
              </a:defRPr>
            </a:pPr>
            <a:r>
              <a:t>110123xxxx</a:t>
            </a:r>
          </a:p>
          <a:p>
            <a:pPr>
              <a:spcBef>
                <a:spcPts val="600"/>
              </a:spcBef>
              <a:spcAft>
                <a:spcPts val="1000"/>
              </a:spcAft>
              <a:defRPr sz="1050" b="1">
                <a:solidFill>
                  <a:srgbClr val="F1F5F9"/>
                </a:solidFill>
              </a:defRPr>
            </a:pPr>
            <a:r>
              <a:t>Evaluasi Model &amp; Slide</a:t>
            </a:r>
          </a:p>
          <a:p>
            <a:pPr>
              <a:spcAft>
                <a:spcPts val="300"/>
              </a:spcAft>
              <a:defRPr sz="950">
                <a:solidFill>
                  <a:srgbClr val="94A3B8"/>
                </a:solidFill>
              </a:defRPr>
            </a:pPr>
            <a:r>
              <a:t>• Pengujian 5-Fold Stratified CV</a:t>
            </a:r>
          </a:p>
          <a:p>
            <a:pPr>
              <a:spcAft>
                <a:spcPts val="300"/>
              </a:spcAft>
              <a:defRPr sz="950">
                <a:solidFill>
                  <a:srgbClr val="94A3B8"/>
                </a:solidFill>
              </a:defRPr>
            </a:pPr>
            <a:r>
              <a:t>• Analisis Confusion Matrix &amp; Recall</a:t>
            </a:r>
          </a:p>
          <a:p>
            <a:pPr>
              <a:spcAft>
                <a:spcPts val="300"/>
              </a:spcAft>
              <a:defRPr sz="950">
                <a:solidFill>
                  <a:srgbClr val="94A3B8"/>
                </a:solidFill>
              </a:defRPr>
            </a:pPr>
            <a:r>
              <a:t>• Perhitungan Feature Importance</a:t>
            </a:r>
          </a:p>
          <a:p>
            <a:pPr>
              <a:spcAft>
                <a:spcPts val="300"/>
              </a:spcAft>
              <a:defRPr sz="950">
                <a:solidFill>
                  <a:srgbClr val="94A3B8"/>
                </a:solidFill>
              </a:defRPr>
            </a:pPr>
            <a:r>
              <a:t>• Naskah Presentasi &amp; Storyline</a:t>
            </a:r>
          </a:p>
        </p:txBody>
      </p:sp>
      <p:sp>
        <p:nvSpPr>
          <p:cNvPr id="16" name="Rounded Rectangle 15"/>
          <p:cNvSpPr/>
          <p:nvPr/>
        </p:nvSpPr>
        <p:spPr>
          <a:xfrm>
            <a:off x="9098280" y="5394960"/>
            <a:ext cx="2286000" cy="5029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10B981"/>
                </a:solidFill>
              </a:defRPr>
            </a:pPr>
            <a:r>
              <a:t>Evaluation &amp; QA Specialist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2187</Words>
  <Application>Microsoft Office PowerPoint</Application>
  <PresentationFormat>Widescreen</PresentationFormat>
  <Paragraphs>230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LENOVO LEGION</cp:lastModifiedBy>
  <cp:revision>1</cp:revision>
  <dcterms:created xsi:type="dcterms:W3CDTF">2013-01-27T09:14:16Z</dcterms:created>
  <dcterms:modified xsi:type="dcterms:W3CDTF">2026-10-15T08:01:47Z</dcterms:modified>
  <cp:category/>
</cp:coreProperties>
</file>